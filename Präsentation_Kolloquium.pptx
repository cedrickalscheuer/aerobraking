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91" r:id="rId3"/>
    <p:sldId id="296" r:id="rId4"/>
    <p:sldId id="295" r:id="rId5"/>
    <p:sldId id="297" r:id="rId6"/>
    <p:sldId id="300" r:id="rId7"/>
    <p:sldId id="299" r:id="rId8"/>
    <p:sldId id="320" r:id="rId9"/>
    <p:sldId id="272" r:id="rId10"/>
    <p:sldId id="280" r:id="rId11"/>
    <p:sldId id="303" r:id="rId12"/>
    <p:sldId id="302" r:id="rId13"/>
    <p:sldId id="281" r:id="rId14"/>
    <p:sldId id="282" r:id="rId15"/>
    <p:sldId id="283" r:id="rId16"/>
    <p:sldId id="301" r:id="rId17"/>
    <p:sldId id="273" r:id="rId18"/>
    <p:sldId id="274" r:id="rId19"/>
    <p:sldId id="304" r:id="rId20"/>
    <p:sldId id="305" r:id="rId21"/>
    <p:sldId id="284" r:id="rId22"/>
    <p:sldId id="310" r:id="rId23"/>
    <p:sldId id="311" r:id="rId24"/>
    <p:sldId id="312" r:id="rId25"/>
    <p:sldId id="313" r:id="rId26"/>
    <p:sldId id="315" r:id="rId27"/>
    <p:sldId id="316" r:id="rId28"/>
    <p:sldId id="314" r:id="rId29"/>
    <p:sldId id="319" r:id="rId30"/>
    <p:sldId id="318" r:id="rId31"/>
    <p:sldId id="317" r:id="rId32"/>
    <p:sldId id="29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2468" autoAdjust="0"/>
  </p:normalViewPr>
  <p:slideViewPr>
    <p:cSldViewPr snapToGrid="0" snapToObjects="1">
      <p:cViewPr varScale="1">
        <p:scale>
          <a:sx n="103" d="100"/>
          <a:sy n="103" d="100"/>
        </p:scale>
        <p:origin x="2530" y="28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0:04.583"/>
    </inkml:context>
    <inkml:brush xml:id="br0">
      <inkml:brushProperty name="width" value="0.4" units="cm"/>
      <inkml:brushProperty name="height" value="0.8" units="cm"/>
      <inkml:brushProperty name="color" value="#F8B0B0"/>
      <inkml:brushProperty name="tip" value="rectangle"/>
      <inkml:brushProperty name="rasterOp" value="maskPen"/>
      <inkml:brushProperty name="ignorePressure" value="1"/>
    </inkml:brush>
  </inkml:definitions>
  <inkml:trace contextRef="#ctx0" brushRef="#br0">677 0,'-676'0,"2386"0,-1693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0:42.952"/>
    </inkml:context>
    <inkml:brush xml:id="br0">
      <inkml:brushProperty name="width" value="0.5" units="cm"/>
      <inkml:brushProperty name="height" value="1" units="cm"/>
      <inkml:brushProperty name="color" value="#FFD6A9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0,'1538'0,"-2852"0,1300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1:33.026"/>
    </inkml:context>
    <inkml:brush xml:id="br0">
      <inkml:brushProperty name="width" value="0.5" units="cm"/>
      <inkml:brushProperty name="height" value="1" units="cm"/>
      <inkml:brushProperty name="color" value="#FFD6A9"/>
      <inkml:brushProperty name="tip" value="rectangle"/>
      <inkml:brushProperty name="rasterOp" value="maskPen"/>
      <inkml:brushProperty name="ignorePressure" value="1"/>
    </inkml:brush>
  </inkml:definitions>
  <inkml:trace contextRef="#ctx0" brushRef="#br0">221 1,'-220'0,"1646"0,-1416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1:56.282"/>
    </inkml:context>
    <inkml:brush xml:id="br0">
      <inkml:brushProperty name="width" value="0.4" units="cm"/>
      <inkml:brushProperty name="height" value="0.8" units="cm"/>
      <inkml:brushProperty name="color" value="#FFD6A9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1,'8350'0,"-8333"0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14.324"/>
    </inkml:context>
    <inkml:brush xml:id="br0">
      <inkml:brushProperty name="width" value="0.4" units="cm"/>
      <inkml:brushProperty name="height" value="0.8" units="cm"/>
      <inkml:brushProperty name="color" value="#F8B0B0"/>
      <inkml:brushProperty name="tip" value="rectangle"/>
      <inkml:brushProperty name="rasterOp" value="maskPen"/>
      <inkml:brushProperty name="ignorePressure" value="1"/>
    </inkml:brush>
  </inkml:definitions>
  <inkml:trace contextRef="#ctx0" brushRef="#br0">2609 1,'-2609'0,"8168"0,-5537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24.720"/>
    </inkml:context>
    <inkml:brush xml:id="br0">
      <inkml:brushProperty name="width" value="0.4" units="cm"/>
      <inkml:brushProperty name="height" value="0.8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1251 1,'-1250'0,"7714"0,-6449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47.706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0,'2998'0,"-2984"0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2:54.681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3309 1,'-3287'0,"3266"0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3:12.87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476 1,'-475'0,"7360"0,-6868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3:38.835"/>
    </inkml:context>
    <inkml:brush xml:id="br0">
      <inkml:brushProperty name="width" value="0.5" units="cm"/>
      <inkml:brushProperty name="height" value="1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0,'0'0,"0"0,0 0,0 0,0 0,12 0,25 0,-34 0,-24 0,-125 0,362 0,-203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3:51.66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1,'-26'0,"25"0,3 0,13 0,520 0,-591 0,36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2T20:44:00.683"/>
    </inkml:context>
    <inkml:brush xml:id="br0">
      <inkml:brushProperty name="width" value="0.4" units="cm"/>
      <inkml:brushProperty name="height" value="0.8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5183 0,'-5182'0,"11614"0,-6418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CCAE4-BF71-42B6-B308-2B3AC8802911}" type="datetimeFigureOut">
              <a:rPr lang="de-DE" smtClean="0"/>
              <a:t>25.03.2025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89347-AD5F-4D76-AD54-244CA050A51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14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Dachwald</a:t>
            </a:r>
            <a:r>
              <a:rPr lang="de-DE" dirty="0"/>
              <a:t> sinngemäß zitieren „The </a:t>
            </a:r>
            <a:r>
              <a:rPr lang="de-DE" dirty="0" err="1"/>
              <a:t>times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rocks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“</a:t>
            </a:r>
          </a:p>
          <a:p>
            <a:pPr marL="171450" indent="-171450">
              <a:buFontTx/>
              <a:buChar char="-"/>
            </a:pPr>
            <a:r>
              <a:rPr lang="de-DE" dirty="0"/>
              <a:t>Enceladus high </a:t>
            </a:r>
            <a:r>
              <a:rPr lang="de-DE" dirty="0" err="1"/>
              <a:t>priority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aus 1 bzw. Gründen: Enceladus erfüllt alle </a:t>
            </a:r>
            <a:r>
              <a:rPr lang="de-DE" dirty="0" err="1"/>
              <a:t>Vorraussetzungen</a:t>
            </a:r>
            <a:r>
              <a:rPr lang="de-DE" dirty="0"/>
              <a:t> für Leben</a:t>
            </a:r>
          </a:p>
          <a:p>
            <a:pPr marL="171450" indent="-171450">
              <a:buFontTx/>
              <a:buChar char="-"/>
            </a:pPr>
            <a:r>
              <a:rPr lang="de-DE" dirty="0"/>
              <a:t>Liquid </a:t>
            </a:r>
            <a:r>
              <a:rPr lang="de-DE" dirty="0" err="1"/>
              <a:t>Water</a:t>
            </a:r>
            <a:r>
              <a:rPr lang="de-DE" dirty="0"/>
              <a:t> + Source </a:t>
            </a:r>
            <a:r>
              <a:rPr lang="de-DE" dirty="0" err="1"/>
              <a:t>of</a:t>
            </a:r>
            <a:r>
              <a:rPr lang="de-DE" dirty="0"/>
              <a:t> Energy +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(Source </a:t>
            </a:r>
            <a:r>
              <a:rPr lang="de-DE" dirty="0" err="1"/>
              <a:t>of</a:t>
            </a:r>
            <a:r>
              <a:rPr lang="de-DE" dirty="0"/>
              <a:t> Energy: Tidal </a:t>
            </a:r>
            <a:r>
              <a:rPr lang="de-DE" dirty="0" err="1"/>
              <a:t>Heating</a:t>
            </a:r>
            <a:r>
              <a:rPr lang="de-DE" dirty="0"/>
              <a:t> – Interaktionen durch die Gravitation von Saturn biegen Titan und erhitzen das Innere.)</a:t>
            </a:r>
          </a:p>
          <a:p>
            <a:pPr marL="171450" indent="-171450">
              <a:buFontTx/>
              <a:buChar char="-"/>
            </a:pPr>
            <a:r>
              <a:rPr lang="de-DE" dirty="0"/>
              <a:t>(Set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</a:t>
            </a:r>
            <a:r>
              <a:rPr lang="de-DE" dirty="0"/>
              <a:t> Elements: CHNOPS, Carbon, Hydrogen, Nitrogen, Oxygen, Phosphor, Sulfur in den </a:t>
            </a:r>
            <a:r>
              <a:rPr lang="de-DE" dirty="0" err="1"/>
              <a:t>Plumes</a:t>
            </a:r>
            <a:r>
              <a:rPr lang="de-DE" dirty="0"/>
              <a:t> gefunden)</a:t>
            </a:r>
          </a:p>
          <a:p>
            <a:pPr marL="171450" indent="-171450">
              <a:buFontTx/>
              <a:buChar char="-"/>
            </a:pPr>
            <a:r>
              <a:rPr lang="de-DE" dirty="0"/>
              <a:t>Benötigte </a:t>
            </a:r>
            <a:r>
              <a:rPr lang="de-DE" dirty="0" err="1"/>
              <a:t>Delta_V</a:t>
            </a:r>
            <a:r>
              <a:rPr lang="de-DE" dirty="0"/>
              <a:t> ~ 2 km/s+ -&gt; 50% der transportierten Masse, die im Saturnsystem ankommt muss Treibstoff sein</a:t>
            </a:r>
          </a:p>
          <a:p>
            <a:pPr marL="171450" indent="-171450">
              <a:buFontTx/>
              <a:buChar char="-"/>
            </a:pPr>
            <a:r>
              <a:rPr lang="de-DE" dirty="0"/>
              <a:t>Entweder extrem ineffizient oder gar unmöglich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Aerobraking+Gravity</a:t>
            </a:r>
            <a:r>
              <a:rPr lang="de-DE" dirty="0"/>
              <a:t> Assist in den letzten 30 Jahren als zuverlässige Einsparmöglichkeit etabliert (HITEN Mission 1983)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Aerobraking</a:t>
            </a:r>
            <a:r>
              <a:rPr lang="de-DE" dirty="0"/>
              <a:t> Beispiele: Magellan, Mars </a:t>
            </a:r>
            <a:r>
              <a:rPr lang="de-DE" b="0" i="0" dirty="0">
                <a:solidFill>
                  <a:srgbClr val="ECECEC"/>
                </a:solidFill>
                <a:effectLst/>
                <a:latin typeface="Google Sans"/>
              </a:rPr>
              <a:t>Reconnaissance Orbit, </a:t>
            </a:r>
            <a:r>
              <a:rPr lang="de-DE" dirty="0"/>
              <a:t>ExoMars TGO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3081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96721-DEC0-A0ED-FF4E-ED4D6F3A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23B4E3-5C5D-D288-5A17-0F7C3FBA8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6BD35F-3CEA-45C3-03A4-E58710195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z="1100" dirty="0"/>
              <a:t>Hinter Himmelskörper fliegen -&gt; Gravitationskraft des Planeten auf </a:t>
            </a:r>
            <a:r>
              <a:rPr lang="de-DE" sz="1100" dirty="0" err="1"/>
              <a:t>Spacecraft</a:t>
            </a:r>
            <a:r>
              <a:rPr lang="de-DE" sz="1100" dirty="0"/>
              <a:t> zeigt in Richtung des Geschwindigkeitsvektors -&gt; Energiegewinn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Vor Himmelskörper fliegen -&gt; Gravitationskraft des Planeten auf </a:t>
            </a:r>
            <a:r>
              <a:rPr lang="de-DE" sz="1100" dirty="0" err="1"/>
              <a:t>Spacecraft</a:t>
            </a:r>
            <a:r>
              <a:rPr lang="de-DE" sz="1100" dirty="0"/>
              <a:t> zeigt gegen Richtung des Geschwindigkeitsvektors -&gt; Energieverlust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Entsprechende Gravitationskraft von 2 Dingen abhängig. Masse (quasi vernachlässigbar wegen großem Unterschied von Planet zu </a:t>
            </a:r>
            <a:r>
              <a:rPr lang="de-DE" sz="1100" dirty="0" err="1"/>
              <a:t>spacecraft</a:t>
            </a:r>
            <a:r>
              <a:rPr lang="de-DE" sz="1100" dirty="0"/>
              <a:t>) und Abstand im </a:t>
            </a:r>
            <a:r>
              <a:rPr lang="de-DE" sz="1100" dirty="0" err="1"/>
              <a:t>quadrat</a:t>
            </a:r>
            <a:r>
              <a:rPr lang="de-DE" sz="1100" dirty="0"/>
              <a:t>.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Mit </a:t>
            </a:r>
            <a:r>
              <a:rPr lang="de-DE" sz="1100" dirty="0" err="1"/>
              <a:t>aerobraking</a:t>
            </a:r>
            <a:r>
              <a:rPr lang="de-DE" sz="1100" dirty="0"/>
              <a:t> hingegen kann nur Energie aus dem System des </a:t>
            </a:r>
            <a:r>
              <a:rPr lang="de-DE" sz="1100" dirty="0" err="1"/>
              <a:t>Spacecrafts</a:t>
            </a:r>
            <a:r>
              <a:rPr lang="de-DE" sz="1100" dirty="0"/>
              <a:t> entnommen werden. An der Formel erkennbar, dass deutlich mehr Parameter eine Rolle spielen. Drag </a:t>
            </a:r>
            <a:r>
              <a:rPr lang="de-DE" sz="1100" dirty="0" err="1"/>
              <a:t>coefficient</a:t>
            </a:r>
            <a:r>
              <a:rPr lang="de-DE" sz="1100" dirty="0"/>
              <a:t>. Atmosphärendichte, Oberfläche, Geschwindigkeit</a:t>
            </a:r>
          </a:p>
          <a:p>
            <a:pPr marL="171450" indent="-171450">
              <a:buFontTx/>
              <a:buChar char="-"/>
            </a:pPr>
            <a:endParaRPr lang="de-DE" sz="11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3AEE27-E051-CDBB-1509-AEE924328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559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Enceladus keine Atmosphäre, sehr geringe Masse -&gt; kleine </a:t>
            </a:r>
            <a:r>
              <a:rPr lang="de-DE" dirty="0" err="1"/>
              <a:t>sphere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wo </a:t>
            </a:r>
            <a:r>
              <a:rPr lang="de-DE" dirty="0" err="1"/>
              <a:t>gravitation</a:t>
            </a:r>
            <a:r>
              <a:rPr lang="de-DE" dirty="0"/>
              <a:t> relevant ist (488km) (1/2 bzw. 1/3 von Titans Atmosphärenhöhe)</a:t>
            </a:r>
          </a:p>
          <a:p>
            <a:r>
              <a:rPr lang="de-DE" dirty="0"/>
              <a:t>Anderer Himmelskörper notwendig für </a:t>
            </a:r>
            <a:r>
              <a:rPr lang="de-DE" dirty="0" err="1"/>
              <a:t>aerobraking</a:t>
            </a:r>
            <a:r>
              <a:rPr lang="de-DE" dirty="0"/>
              <a:t> im Saturnsystem</a:t>
            </a:r>
          </a:p>
          <a:p>
            <a:r>
              <a:rPr lang="de-DE" dirty="0"/>
              <a:t>Titan hat 1250x die Masse von Enceladus und sehr dichte Atmosphäre -&gt; prädestiniert für </a:t>
            </a:r>
            <a:r>
              <a:rPr lang="de-DE" dirty="0" err="1"/>
              <a:t>aerobraking</a:t>
            </a:r>
            <a:r>
              <a:rPr lang="de-DE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08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20CA-145E-974A-74E8-FA5DA60D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B7CFB83-1AC0-0671-5D5E-ABA21D214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232E0D-5AAA-49F0-436E-5DAD5003C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Ziele der Arbeit: Sind </a:t>
            </a:r>
            <a:r>
              <a:rPr lang="de-DE" dirty="0" err="1"/>
              <a:t>gravity</a:t>
            </a:r>
            <a:r>
              <a:rPr lang="de-DE" dirty="0"/>
              <a:t> </a:t>
            </a:r>
            <a:r>
              <a:rPr lang="de-DE" dirty="0" err="1"/>
              <a:t>assists</a:t>
            </a:r>
            <a:r>
              <a:rPr lang="de-DE" dirty="0"/>
              <a:t> &amp; </a:t>
            </a:r>
            <a:r>
              <a:rPr lang="de-DE" dirty="0" err="1"/>
              <a:t>aerobraking</a:t>
            </a:r>
            <a:r>
              <a:rPr lang="de-DE" dirty="0"/>
              <a:t> am Titan machbar und sinnvoll</a:t>
            </a:r>
          </a:p>
          <a:p>
            <a:pPr marL="171450" indent="-171450">
              <a:buFontTx/>
              <a:buChar char="-"/>
            </a:pPr>
            <a:r>
              <a:rPr lang="de-DE" dirty="0"/>
              <a:t>Entsprechende Flugbahnen so optimieren, dass möglichst wenig Treibstoff verwendet werden muss</a:t>
            </a:r>
          </a:p>
          <a:p>
            <a:pPr marL="171450" indent="-171450">
              <a:buFontTx/>
              <a:buChar char="-"/>
            </a:pPr>
            <a:r>
              <a:rPr lang="de-DE" dirty="0"/>
              <a:t>Wärmelasten analysieren und Limits erkennen und einhalten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Wie untersuchen wir all das? Simulationsprogramm</a:t>
            </a:r>
          </a:p>
          <a:p>
            <a:pPr marL="171450" indent="-171450">
              <a:buFontTx/>
              <a:buChar char="-"/>
            </a:pPr>
            <a:r>
              <a:rPr lang="de-DE" dirty="0"/>
              <a:t>Vorstellung TAGAS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2A9920-4D17-1995-2DFE-AC4A2A80D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579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147D-BAB2-A4E0-0C03-DF0520D2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E55BC5-EE51-CB9B-3DA3-5E3CF8B1A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D919F5-ACEE-E60D-2B4E-E10BC18AA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C2E143-DC20-4E56-89B5-20B65FAA7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066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TAGAS – Titan </a:t>
            </a:r>
            <a:r>
              <a:rPr lang="de-DE" dirty="0" err="1"/>
              <a:t>Aerobraking</a:t>
            </a:r>
            <a:r>
              <a:rPr lang="de-DE" dirty="0"/>
              <a:t> und Gravity Assist Simulator</a:t>
            </a:r>
          </a:p>
          <a:p>
            <a:r>
              <a:rPr lang="de-DE" dirty="0"/>
              <a:t>TAGAS ist ein Simulationsprogramm was ich im Rahmen meiner Bachelorarbeit für genau diese Missionsziele entwickelt habe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94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Arten von Nutzereingaben</a:t>
            </a:r>
            <a:br>
              <a:rPr lang="de-DE" dirty="0"/>
            </a:br>
            <a:r>
              <a:rPr lang="de-DE" dirty="0"/>
              <a:t>Rocket oder </a:t>
            </a:r>
            <a:r>
              <a:rPr lang="de-DE" dirty="0" err="1"/>
              <a:t>spacecraftdaten</a:t>
            </a:r>
            <a:r>
              <a:rPr lang="de-DE" dirty="0"/>
              <a:t>: Masse, Drag </a:t>
            </a:r>
            <a:r>
              <a:rPr lang="de-DE" dirty="0" err="1"/>
              <a:t>coefficient</a:t>
            </a:r>
            <a:r>
              <a:rPr lang="de-DE" dirty="0"/>
              <a:t>, Oberfläche etc.</a:t>
            </a:r>
          </a:p>
          <a:p>
            <a:r>
              <a:rPr lang="de-DE" dirty="0"/>
              <a:t>Ausgabeoptionen: </a:t>
            </a:r>
            <a:r>
              <a:rPr lang="de-DE" dirty="0" err="1"/>
              <a:t>tint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max_crossings</a:t>
            </a:r>
            <a:r>
              <a:rPr lang="de-DE" dirty="0"/>
              <a:t> und 5 Plots die man anzeigen lassen kann. Die einzelnen Plots werden im Laufe des Vortrags bei den Resultaten verwendet und erläutert.</a:t>
            </a:r>
            <a:br>
              <a:rPr lang="de-DE" dirty="0"/>
            </a:b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178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 err="1"/>
              <a:t>Configurations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left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in </a:t>
            </a:r>
            <a:r>
              <a:rPr lang="de-DE" dirty="0" err="1"/>
              <a:t>middle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/>
              <a:t>Use </a:t>
            </a:r>
            <a:r>
              <a:rPr lang="de-DE" dirty="0" err="1"/>
              <a:t>timeslider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spacecraft</a:t>
            </a:r>
            <a:r>
              <a:rPr lang="de-DE" dirty="0"/>
              <a:t>, Titan and Enceladus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shown</a:t>
            </a:r>
            <a:r>
              <a:rPr lang="de-DE" dirty="0"/>
              <a:t>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9166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Showing</a:t>
            </a:r>
            <a:r>
              <a:rPr lang="de-DE" dirty="0"/>
              <a:t> multiple </a:t>
            </a:r>
            <a:r>
              <a:rPr lang="de-DE" dirty="0" err="1"/>
              <a:t>trajectories</a:t>
            </a:r>
            <a:r>
              <a:rPr lang="de-DE" dirty="0"/>
              <a:t> also possible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trajectories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748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Zoom all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in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spacecraft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atmosphere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8608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Self-</a:t>
            </a:r>
            <a:r>
              <a:rPr lang="de-DE" dirty="0" err="1"/>
              <a:t>explanatory</a:t>
            </a:r>
            <a:r>
              <a:rPr lang="de-DE" dirty="0"/>
              <a:t>. Plot </a:t>
            </a:r>
            <a:r>
              <a:rPr lang="de-DE" dirty="0" err="1"/>
              <a:t>atmospheric</a:t>
            </a:r>
            <a:r>
              <a:rPr lang="de-DE" dirty="0"/>
              <a:t> </a:t>
            </a:r>
            <a:r>
              <a:rPr lang="de-DE" dirty="0" err="1"/>
              <a:t>density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. More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atmosphere</a:t>
            </a:r>
            <a:r>
              <a:rPr lang="de-DE" dirty="0"/>
              <a:t> after </a:t>
            </a:r>
            <a:r>
              <a:rPr lang="de-DE" dirty="0" err="1"/>
              <a:t>showing</a:t>
            </a:r>
            <a:r>
              <a:rPr lang="de-DE" dirty="0"/>
              <a:t> all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options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3947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 err="1"/>
              <a:t>Config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again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/>
              <a:t>Parameter </a:t>
            </a:r>
            <a:r>
              <a:rPr lang="de-DE" dirty="0" err="1"/>
              <a:t>list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endParaRPr lang="de-DE" dirty="0"/>
          </a:p>
          <a:p>
            <a:pPr marL="228600" indent="-228600">
              <a:buAutoNum type="arabicPeriod"/>
            </a:pPr>
            <a:r>
              <a:rPr lang="de-DE" dirty="0"/>
              <a:t>Go </a:t>
            </a:r>
            <a:r>
              <a:rPr lang="de-DE" dirty="0" err="1"/>
              <a:t>through</a:t>
            </a:r>
            <a:r>
              <a:rPr lang="de-DE" dirty="0"/>
              <a:t> Orbital Energy -&gt;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Saturn -&gt; Can also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in 1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compare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20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Erstmal verwirrend</a:t>
            </a:r>
          </a:p>
          <a:p>
            <a:r>
              <a:rPr lang="de-DE" dirty="0"/>
              <a:t>X-Achse: </a:t>
            </a:r>
            <a:r>
              <a:rPr lang="de-DE" dirty="0" err="1"/>
              <a:t>ankunftsgeschwindigkeit</a:t>
            </a:r>
            <a:r>
              <a:rPr lang="de-DE" dirty="0"/>
              <a:t> relativ zu </a:t>
            </a:r>
            <a:r>
              <a:rPr lang="de-DE" dirty="0" err="1"/>
              <a:t>saturn</a:t>
            </a:r>
            <a:endParaRPr lang="de-DE" dirty="0"/>
          </a:p>
          <a:p>
            <a:r>
              <a:rPr lang="de-DE" dirty="0" err="1"/>
              <a:t>Y-achse</a:t>
            </a:r>
            <a:r>
              <a:rPr lang="de-DE" dirty="0"/>
              <a:t>: </a:t>
            </a:r>
            <a:r>
              <a:rPr lang="de-DE" dirty="0" err="1"/>
              <a:t>flyby</a:t>
            </a:r>
            <a:r>
              <a:rPr lang="de-DE" dirty="0"/>
              <a:t> </a:t>
            </a:r>
            <a:r>
              <a:rPr lang="de-DE" dirty="0" err="1"/>
              <a:t>altitude</a:t>
            </a:r>
            <a:endParaRPr lang="de-DE" dirty="0"/>
          </a:p>
          <a:p>
            <a:r>
              <a:rPr lang="de-DE" dirty="0"/>
              <a:t>Datenpunkte sind mögliche </a:t>
            </a:r>
            <a:r>
              <a:rPr lang="de-DE" dirty="0" err="1"/>
              <a:t>flyby</a:t>
            </a:r>
            <a:r>
              <a:rPr lang="de-DE" dirty="0"/>
              <a:t>/</a:t>
            </a:r>
            <a:r>
              <a:rPr lang="de-DE" dirty="0" err="1"/>
              <a:t>aerobraking</a:t>
            </a:r>
            <a:r>
              <a:rPr lang="de-DE" dirty="0"/>
              <a:t> höhen, die ohne weiter </a:t>
            </a:r>
            <a:r>
              <a:rPr lang="de-DE" dirty="0" err="1"/>
              <a:t>schubmanöver</a:t>
            </a:r>
            <a:r>
              <a:rPr lang="de-DE" dirty="0"/>
              <a:t> in 2. </a:t>
            </a:r>
            <a:r>
              <a:rPr lang="de-DE" dirty="0" err="1"/>
              <a:t>flyby</a:t>
            </a:r>
            <a:r>
              <a:rPr lang="de-DE" dirty="0"/>
              <a:t> resultieren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436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Wärmelasten während </a:t>
            </a:r>
            <a:r>
              <a:rPr lang="de-DE" dirty="0" err="1"/>
              <a:t>aerobraking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. </a:t>
            </a:r>
          </a:p>
          <a:p>
            <a:r>
              <a:rPr lang="de-DE" dirty="0"/>
              <a:t>Gestrichelte </a:t>
            </a:r>
            <a:r>
              <a:rPr lang="de-DE" dirty="0" err="1"/>
              <a:t>linie</a:t>
            </a:r>
            <a:r>
              <a:rPr lang="de-DE" dirty="0"/>
              <a:t> = TPS </a:t>
            </a:r>
            <a:r>
              <a:rPr lang="de-DE" dirty="0" err="1"/>
              <a:t>limit</a:t>
            </a:r>
            <a:r>
              <a:rPr lang="de-DE" dirty="0"/>
              <a:t> modern </a:t>
            </a:r>
            <a:r>
              <a:rPr lang="de-DE" dirty="0" err="1"/>
              <a:t>radiative</a:t>
            </a:r>
            <a:r>
              <a:rPr lang="de-DE" dirty="0"/>
              <a:t> </a:t>
            </a:r>
            <a:r>
              <a:rPr lang="de-DE" dirty="0" err="1"/>
              <a:t>coating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206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3 </a:t>
            </a:r>
            <a:r>
              <a:rPr lang="de-DE" dirty="0" err="1"/>
              <a:t>heights</a:t>
            </a:r>
            <a:r>
              <a:rPr lang="de-DE" dirty="0"/>
              <a:t>, 3 </a:t>
            </a:r>
            <a:r>
              <a:rPr lang="de-DE" dirty="0" err="1"/>
              <a:t>densities</a:t>
            </a:r>
            <a:r>
              <a:rPr lang="de-DE" dirty="0"/>
              <a:t>. Rest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assumption</a:t>
            </a:r>
            <a:endParaRPr lang="de-DE" dirty="0"/>
          </a:p>
          <a:p>
            <a:r>
              <a:rPr lang="de-DE" dirty="0"/>
              <a:t>-&gt;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slide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5118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Bewegungsgleichungen die TAGAS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057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0EAAF-9F9F-9739-CB9B-3CBB56AD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E288F-7E2D-66DA-637B-95BBA036D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876BBD-5BB1-B254-D78D-3FE5FD2AA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Ziel: Möglichst wenig Treibstoff verwenden -&gt; Kein Schubmanöver wenn möglich</a:t>
            </a:r>
          </a:p>
          <a:p>
            <a:pPr marL="171450" indent="-171450">
              <a:buFontTx/>
              <a:buChar char="-"/>
            </a:pPr>
            <a:r>
              <a:rPr lang="de-DE" dirty="0"/>
              <a:t>Problem: Titan kreist um Saturn und ist nicht stationär</a:t>
            </a:r>
          </a:p>
          <a:p>
            <a:pPr marL="171450" indent="-171450">
              <a:buFontTx/>
              <a:buChar char="-"/>
            </a:pPr>
            <a:r>
              <a:rPr lang="de-DE" dirty="0"/>
              <a:t>Entsprechende Ankunftszeit vom </a:t>
            </a:r>
            <a:r>
              <a:rPr lang="de-DE" dirty="0" err="1"/>
              <a:t>Spacecraft</a:t>
            </a:r>
            <a:r>
              <a:rPr lang="de-DE" dirty="0"/>
              <a:t> bei Titans </a:t>
            </a:r>
            <a:r>
              <a:rPr lang="de-DE" dirty="0" err="1"/>
              <a:t>orbit</a:t>
            </a:r>
            <a:r>
              <a:rPr lang="de-DE" dirty="0"/>
              <a:t> muss also so sein, dass Titan auch an der entsprechenden Stelle ist, sodass ein </a:t>
            </a:r>
            <a:r>
              <a:rPr lang="de-DE" dirty="0" err="1"/>
              <a:t>aerobraking</a:t>
            </a:r>
            <a:r>
              <a:rPr lang="de-DE" dirty="0"/>
              <a:t> </a:t>
            </a:r>
            <a:r>
              <a:rPr lang="de-DE" dirty="0" err="1"/>
              <a:t>manöver</a:t>
            </a:r>
            <a:r>
              <a:rPr lang="de-DE" dirty="0"/>
              <a:t> stattfinden kann</a:t>
            </a:r>
          </a:p>
          <a:p>
            <a:pPr marL="171450" indent="-171450">
              <a:buFontTx/>
              <a:buChar char="-"/>
            </a:pPr>
            <a:r>
              <a:rPr lang="de-DE" dirty="0"/>
              <a:t>Flowchart erklären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798455-C757-A7F0-1EEF-D159FB553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0839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654A-236E-1D84-818F-5C327DC5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FD31A15-7577-D0EA-8B6F-E500F9016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F30561-CB28-E014-9343-182FFBCD2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Problem: 1 </a:t>
            </a:r>
            <a:r>
              <a:rPr lang="de-DE" dirty="0" err="1"/>
              <a:t>Flyby</a:t>
            </a:r>
            <a:r>
              <a:rPr lang="de-DE" dirty="0"/>
              <a:t> reicht nicht aus um gewünschten </a:t>
            </a:r>
            <a:r>
              <a:rPr lang="de-DE" dirty="0" err="1"/>
              <a:t>orbit</a:t>
            </a:r>
            <a:r>
              <a:rPr lang="de-DE" dirty="0"/>
              <a:t> zu erreichen.</a:t>
            </a:r>
          </a:p>
          <a:p>
            <a:pPr marL="171450" indent="-171450">
              <a:buFontTx/>
              <a:buChar char="-"/>
            </a:pPr>
            <a:r>
              <a:rPr lang="de-DE" dirty="0"/>
              <a:t>Die Umlaufzeit des 1. Orbits vom </a:t>
            </a:r>
            <a:r>
              <a:rPr lang="de-DE" dirty="0" err="1"/>
              <a:t>Spacecraft</a:t>
            </a:r>
            <a:r>
              <a:rPr lang="de-DE" dirty="0"/>
              <a:t> hängt von der </a:t>
            </a:r>
            <a:r>
              <a:rPr lang="de-DE" dirty="0" err="1"/>
              <a:t>aerobraking</a:t>
            </a:r>
            <a:r>
              <a:rPr lang="de-DE" dirty="0"/>
              <a:t> höhe ab. </a:t>
            </a:r>
          </a:p>
          <a:p>
            <a:pPr marL="171450" indent="-171450">
              <a:buFontTx/>
              <a:buChar char="-"/>
            </a:pPr>
            <a:r>
              <a:rPr lang="de-DE" dirty="0"/>
              <a:t>Kleinere </a:t>
            </a:r>
            <a:r>
              <a:rPr lang="de-DE" dirty="0" err="1"/>
              <a:t>Aerobraking</a:t>
            </a:r>
            <a:r>
              <a:rPr lang="de-DE" dirty="0"/>
              <a:t> höhe -&gt; stärkere Kräfte auf das </a:t>
            </a:r>
            <a:r>
              <a:rPr lang="de-DE" dirty="0" err="1"/>
              <a:t>Spacecraft</a:t>
            </a:r>
            <a:r>
              <a:rPr lang="de-DE" dirty="0"/>
              <a:t> -&gt; kleinerer Orbit und Umlaufzeit -&gt; Schneller an der Stelle wo die Flugbahn Titans Orbit kreuzt</a:t>
            </a:r>
          </a:p>
          <a:p>
            <a:pPr marL="171450" indent="-171450">
              <a:buFontTx/>
              <a:buChar char="-"/>
            </a:pPr>
            <a:r>
              <a:rPr lang="de-DE" dirty="0"/>
              <a:t>Existiert eine </a:t>
            </a:r>
            <a:r>
              <a:rPr lang="de-DE" dirty="0" err="1"/>
              <a:t>Aerobraking</a:t>
            </a:r>
            <a:r>
              <a:rPr lang="de-DE" dirty="0"/>
              <a:t> höhe die dafür sorgt, dass der 1. Orbit genau die Umlaufzeit von Titan oder ein vielfaches davon hat, sodass ohne Schubmanöver ein 2. </a:t>
            </a:r>
            <a:r>
              <a:rPr lang="de-DE" dirty="0" err="1"/>
              <a:t>flyby</a:t>
            </a:r>
            <a:r>
              <a:rPr lang="de-DE" dirty="0"/>
              <a:t> stattfindet?</a:t>
            </a:r>
          </a:p>
          <a:p>
            <a:pPr marL="171450" indent="-171450">
              <a:buFontTx/>
              <a:buChar char="-"/>
            </a:pPr>
            <a:r>
              <a:rPr lang="de-DE" dirty="0"/>
              <a:t>Ja. Dieser Iterationsprozess findet sie. Ähnlich zu Launch Delay Iteration.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7B7E2D-D8A6-7FBA-D53F-CA93A15A6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721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Exponentialmodelle. Eins von der Oberfläche zu 600km. Eins von 600km zum </a:t>
            </a:r>
            <a:r>
              <a:rPr lang="de-DE" dirty="0" err="1"/>
              <a:t>Atmospheric</a:t>
            </a:r>
            <a:r>
              <a:rPr lang="de-DE" dirty="0"/>
              <a:t> Entry Interface</a:t>
            </a:r>
          </a:p>
          <a:p>
            <a:r>
              <a:rPr lang="de-DE" dirty="0"/>
              <a:t>HASI = Huygens </a:t>
            </a:r>
            <a:r>
              <a:rPr lang="de-DE" dirty="0" err="1"/>
              <a:t>Atmospheric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Instrument</a:t>
            </a:r>
          </a:p>
          <a:p>
            <a:r>
              <a:rPr lang="de-DE" dirty="0"/>
              <a:t>Einzige Probe die auf Titan gelandet ist und Daten in der Atmosphäre gemessen hat</a:t>
            </a:r>
          </a:p>
          <a:p>
            <a:r>
              <a:rPr lang="de-DE" dirty="0"/>
              <a:t>Konservativer Ansatz. Interpolierte Werte zu hoch um Mission nicht zu gefährden</a:t>
            </a:r>
          </a:p>
          <a:p>
            <a:r>
              <a:rPr lang="de-DE" dirty="0"/>
              <a:t>Untere 200 km nicht passend, aber nicht relevant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012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187E-4A61-C219-BE97-B7485936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9864E90-3906-13F2-5BF6-259EAE10F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C4CB44-63FD-87EC-0F0D-937CB6C4B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Vergleich zu Titan Orbiter Studie der NASA von 2016</a:t>
            </a:r>
          </a:p>
          <a:p>
            <a:pPr marL="171450" indent="-171450">
              <a:buFontTx/>
              <a:buChar char="-"/>
            </a:pPr>
            <a:r>
              <a:rPr lang="de-DE" dirty="0"/>
              <a:t>Gleiche Ausgangssituation hergestellt. </a:t>
            </a:r>
            <a:r>
              <a:rPr lang="de-DE" dirty="0" err="1"/>
              <a:t>V_inf</a:t>
            </a:r>
            <a:r>
              <a:rPr lang="de-DE" dirty="0"/>
              <a:t> = 4.34 km/s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Vergleich von der Geschwindigkeit des </a:t>
            </a:r>
            <a:r>
              <a:rPr lang="de-DE" dirty="0" err="1"/>
              <a:t>Spacecrafts</a:t>
            </a:r>
            <a:r>
              <a:rPr lang="de-DE" dirty="0"/>
              <a:t> beim Erreichen von Titan</a:t>
            </a:r>
          </a:p>
          <a:p>
            <a:pPr marL="171450" indent="-171450">
              <a:buFontTx/>
              <a:buChar char="-"/>
            </a:pPr>
            <a:r>
              <a:rPr lang="de-DE" dirty="0"/>
              <a:t>Fehler von 0.000141 km/s -&gt; relativer Fehler von 0.001556%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490DD8-D795-A551-5CED-1AC6DCEB4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967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BAB2E-3DC3-5420-21A6-9EAE6C15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911523-AC4D-68BC-87D2-E6F4421B5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581C7D-4D41-BF64-BA8A-E3D03ED3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Validierung der Kräfte die während des </a:t>
            </a:r>
            <a:r>
              <a:rPr lang="de-DE" dirty="0" err="1"/>
              <a:t>aerobraking</a:t>
            </a:r>
            <a:r>
              <a:rPr lang="de-DE" dirty="0"/>
              <a:t> wirken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Vergleich zu NASA Studie zu </a:t>
            </a:r>
            <a:r>
              <a:rPr lang="de-DE" dirty="0" err="1"/>
              <a:t>aerocapture</a:t>
            </a:r>
            <a:r>
              <a:rPr lang="de-DE" dirty="0"/>
              <a:t> an Titan</a:t>
            </a:r>
          </a:p>
          <a:p>
            <a:pPr marL="171450" indent="-171450">
              <a:buFontTx/>
              <a:buChar char="-"/>
            </a:pPr>
            <a:r>
              <a:rPr lang="de-DE" dirty="0"/>
              <a:t>Auch hier gleiche </a:t>
            </a:r>
            <a:r>
              <a:rPr lang="de-DE" dirty="0" err="1"/>
              <a:t>ausgangssituation</a:t>
            </a:r>
            <a:r>
              <a:rPr lang="de-DE" dirty="0"/>
              <a:t> hergestellt (1250 km abstand zu </a:t>
            </a:r>
            <a:r>
              <a:rPr lang="de-DE" dirty="0" err="1"/>
              <a:t>titan</a:t>
            </a:r>
            <a:r>
              <a:rPr lang="de-DE" dirty="0"/>
              <a:t>, 6.5 km/s </a:t>
            </a:r>
            <a:r>
              <a:rPr lang="de-DE" dirty="0" err="1"/>
              <a:t>geschwindigkeit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dirty="0"/>
              <a:t>Grafik zeigt den Verlauf der Geschwindigkeit in Abhängigkeit der Höhe beim </a:t>
            </a:r>
            <a:r>
              <a:rPr lang="de-DE" dirty="0" err="1"/>
              <a:t>Aerocapture</a:t>
            </a:r>
            <a:r>
              <a:rPr lang="de-DE" dirty="0"/>
              <a:t>.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Unten links Ergebnisse der Studie, rechts meine</a:t>
            </a:r>
          </a:p>
          <a:p>
            <a:pPr marL="171450" indent="-171450">
              <a:buFontTx/>
              <a:buChar char="-"/>
            </a:pPr>
            <a:r>
              <a:rPr lang="de-DE" dirty="0"/>
              <a:t>Klick -&gt; kombiniert die </a:t>
            </a:r>
            <a:r>
              <a:rPr lang="de-DE" dirty="0" err="1"/>
              <a:t>plots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Leicht andere Periapsis und Endgeschwindigkeit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(HYPAS = Hybrid </a:t>
            </a:r>
            <a:r>
              <a:rPr lang="de-DE" dirty="0" err="1"/>
              <a:t>Predictor</a:t>
            </a:r>
            <a:r>
              <a:rPr lang="de-DE" dirty="0"/>
              <a:t> </a:t>
            </a:r>
            <a:r>
              <a:rPr lang="de-DE" dirty="0" err="1"/>
              <a:t>corrector</a:t>
            </a:r>
            <a:r>
              <a:rPr lang="de-DE" dirty="0"/>
              <a:t> </a:t>
            </a:r>
            <a:r>
              <a:rPr lang="de-DE" dirty="0" err="1"/>
              <a:t>Aerocapture</a:t>
            </a:r>
            <a:r>
              <a:rPr lang="de-DE" dirty="0"/>
              <a:t> Scheme)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A823D8-60E0-FC40-19ED-760CCB19E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0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A79C-FB8D-20E2-E277-851FD5642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F90EF0-02A7-66EB-4502-856696FE6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873DAB-39EC-DC01-D8AD-45DE689AF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Gleiche </a:t>
            </a:r>
            <a:r>
              <a:rPr lang="de-DE" dirty="0" err="1"/>
              <a:t>studie</a:t>
            </a:r>
            <a:r>
              <a:rPr lang="de-DE" dirty="0"/>
              <a:t> beinhaltet </a:t>
            </a:r>
            <a:r>
              <a:rPr lang="de-DE" dirty="0" err="1"/>
              <a:t>analyse</a:t>
            </a:r>
            <a:r>
              <a:rPr lang="de-DE" dirty="0"/>
              <a:t> der wärmelasten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Unterschieden zwischen </a:t>
            </a:r>
            <a:r>
              <a:rPr lang="de-DE" dirty="0" err="1"/>
              <a:t>convective</a:t>
            </a:r>
            <a:r>
              <a:rPr lang="de-DE" dirty="0"/>
              <a:t> und </a:t>
            </a:r>
            <a:r>
              <a:rPr lang="de-DE" dirty="0" err="1"/>
              <a:t>radiative</a:t>
            </a:r>
            <a:r>
              <a:rPr lang="de-DE" dirty="0"/>
              <a:t> </a:t>
            </a:r>
            <a:r>
              <a:rPr lang="de-DE" dirty="0" err="1"/>
              <a:t>heating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Vergleich ähnlicher </a:t>
            </a:r>
            <a:r>
              <a:rPr lang="de-DE" dirty="0" err="1"/>
              <a:t>flugbahn</a:t>
            </a:r>
            <a:r>
              <a:rPr lang="de-DE" dirty="0"/>
              <a:t> (ähnlich da es nicht möglich war die genau identische </a:t>
            </a:r>
            <a:r>
              <a:rPr lang="de-DE" dirty="0" err="1"/>
              <a:t>flugbahn</a:t>
            </a:r>
            <a:r>
              <a:rPr lang="de-DE" dirty="0"/>
              <a:t> nachzubauen)</a:t>
            </a:r>
          </a:p>
          <a:p>
            <a:pPr marL="171450" indent="-171450">
              <a:buFontTx/>
              <a:buChar char="-"/>
            </a:pPr>
            <a:r>
              <a:rPr lang="de-DE" dirty="0"/>
              <a:t>Unten links grüne Kurve knapp über 80 </a:t>
            </a:r>
            <a:r>
              <a:rPr lang="de-DE" dirty="0" err="1"/>
              <a:t>radiative</a:t>
            </a:r>
            <a:r>
              <a:rPr lang="de-DE" dirty="0"/>
              <a:t>, unten rechts knapp 80 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Convective</a:t>
            </a:r>
            <a:r>
              <a:rPr lang="de-DE" dirty="0"/>
              <a:t> fast 30 unten links und knapp über 20 bei mir</a:t>
            </a:r>
          </a:p>
          <a:p>
            <a:pPr marL="171450" indent="-171450">
              <a:buFontTx/>
              <a:buChar char="-"/>
            </a:pPr>
            <a:r>
              <a:rPr lang="de-DE" dirty="0"/>
              <a:t>Vor allem der höhere und damit limitierende und interessantere wert für die </a:t>
            </a:r>
            <a:r>
              <a:rPr lang="de-DE" dirty="0" err="1"/>
              <a:t>thesis</a:t>
            </a:r>
            <a:r>
              <a:rPr lang="de-DE" dirty="0"/>
              <a:t> ist jedoch sehr ähnlich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EE0858-4419-D79A-CBD4-971ADAE67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451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E6F70-DC25-ABD1-7918-CE53B4A5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050B7A-041B-A534-24DC-24443BA47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1808D4-7561-D289-91AF-ACFA25198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z="1100" dirty="0"/>
              <a:t>1. Resultat: Mögliche </a:t>
            </a:r>
            <a:r>
              <a:rPr lang="de-DE" sz="1100" dirty="0" err="1"/>
              <a:t>ankunftsgeschwindigkeit</a:t>
            </a:r>
            <a:r>
              <a:rPr lang="de-DE" sz="1100" dirty="0"/>
              <a:t> von 0.5 – 5.5 km/s und höher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Geringere </a:t>
            </a:r>
            <a:r>
              <a:rPr lang="de-DE" sz="1100" dirty="0" err="1"/>
              <a:t>Flyby</a:t>
            </a:r>
            <a:r>
              <a:rPr lang="de-DE" sz="1100" dirty="0"/>
              <a:t> Distanz -&gt; Stärkerer </a:t>
            </a:r>
            <a:r>
              <a:rPr lang="de-DE" sz="1100" dirty="0" err="1"/>
              <a:t>energieverlust</a:t>
            </a:r>
            <a:r>
              <a:rPr lang="de-DE" sz="1100" dirty="0"/>
              <a:t>, da die </a:t>
            </a:r>
            <a:r>
              <a:rPr lang="de-DE" sz="1100" dirty="0" err="1"/>
              <a:t>gravitationskraft</a:t>
            </a:r>
            <a:r>
              <a:rPr lang="de-DE" sz="1100" dirty="0"/>
              <a:t> und der widerstand der </a:t>
            </a:r>
            <a:r>
              <a:rPr lang="de-DE" sz="1100" dirty="0" err="1"/>
              <a:t>atmosphäre</a:t>
            </a:r>
            <a:r>
              <a:rPr lang="de-DE" sz="1100" dirty="0"/>
              <a:t> größer werden (</a:t>
            </a:r>
            <a:r>
              <a:rPr lang="de-DE" sz="1100" dirty="0" err="1"/>
              <a:t>gravitation</a:t>
            </a:r>
            <a:r>
              <a:rPr lang="de-DE" sz="1100" dirty="0"/>
              <a:t> steigt quadratisch zur </a:t>
            </a:r>
            <a:r>
              <a:rPr lang="de-DE" sz="1100" dirty="0" err="1"/>
              <a:t>distanz</a:t>
            </a:r>
            <a:r>
              <a:rPr lang="de-DE" sz="1100" dirty="0"/>
              <a:t>, atmosphärenwiderstand </a:t>
            </a:r>
            <a:r>
              <a:rPr lang="de-DE" sz="1100" dirty="0" err="1"/>
              <a:t>exponenziell</a:t>
            </a:r>
            <a:r>
              <a:rPr lang="de-DE" sz="1100" dirty="0"/>
              <a:t>) -&gt; damit kleinere </a:t>
            </a:r>
            <a:r>
              <a:rPr lang="de-DE" sz="1100" dirty="0" err="1"/>
              <a:t>umlaufzeit</a:t>
            </a:r>
            <a:r>
              <a:rPr lang="de-DE" sz="1100" dirty="0"/>
              <a:t> des 1. </a:t>
            </a:r>
            <a:r>
              <a:rPr lang="de-DE" sz="1100" dirty="0" err="1"/>
              <a:t>orbits</a:t>
            </a:r>
            <a:r>
              <a:rPr lang="de-DE" sz="1100" dirty="0"/>
              <a:t> -&gt; Somit schnelleres erreichen des Zielorbits.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1. Priorität der </a:t>
            </a:r>
            <a:r>
              <a:rPr lang="de-DE" sz="1100" dirty="0" err="1"/>
              <a:t>optimierung</a:t>
            </a:r>
            <a:r>
              <a:rPr lang="de-DE" sz="1100" dirty="0"/>
              <a:t> ist Time </a:t>
            </a:r>
            <a:r>
              <a:rPr lang="de-DE" sz="1100" dirty="0" err="1"/>
              <a:t>of</a:t>
            </a:r>
            <a:r>
              <a:rPr lang="de-DE" sz="1100" dirty="0"/>
              <a:t> Flight, da die Mission 6-7Jahre benötigt Saturnsystem zu erreichen, eher suboptimal mehrere Jahre </a:t>
            </a:r>
            <a:r>
              <a:rPr lang="de-DE" sz="1100" dirty="0" err="1"/>
              <a:t>aerobraking</a:t>
            </a:r>
            <a:r>
              <a:rPr lang="de-DE" sz="1100" dirty="0"/>
              <a:t> durchzuführen.</a:t>
            </a:r>
          </a:p>
          <a:p>
            <a:pPr marL="171450" indent="-171450">
              <a:buFontTx/>
              <a:buChar char="-"/>
            </a:pPr>
            <a:r>
              <a:rPr lang="de-DE" sz="1100" dirty="0"/>
              <a:t>Schlüsselerkenntnis: Möglichst hohe </a:t>
            </a:r>
            <a:r>
              <a:rPr lang="de-DE" sz="1100" dirty="0" err="1"/>
              <a:t>ankunftsgeschwindigkeit</a:t>
            </a:r>
            <a:r>
              <a:rPr lang="de-DE" sz="1100" dirty="0"/>
              <a:t>, möglichst niedrige </a:t>
            </a:r>
            <a:r>
              <a:rPr lang="de-DE" sz="1100" dirty="0" err="1"/>
              <a:t>flyby</a:t>
            </a:r>
            <a:r>
              <a:rPr lang="de-DE" sz="1100" dirty="0"/>
              <a:t> </a:t>
            </a:r>
            <a:r>
              <a:rPr lang="de-DE" sz="1100" dirty="0" err="1"/>
              <a:t>distanz</a:t>
            </a:r>
            <a:endParaRPr lang="de-DE" sz="11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81BA44-8FF0-7FCC-C8C8-655B72747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116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50BF-3B90-EAA9-D7C5-7F93E914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838624-A6ED-A2F8-BC8D-C2C97CCFE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4C759D-C582-2B34-1A52-D107809CD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1. Niedrigste </a:t>
            </a:r>
            <a:r>
              <a:rPr lang="de-DE" dirty="0" err="1"/>
              <a:t>flyby</a:t>
            </a:r>
            <a:r>
              <a:rPr lang="de-DE" dirty="0"/>
              <a:t> </a:t>
            </a:r>
            <a:r>
              <a:rPr lang="de-DE" dirty="0" err="1"/>
              <a:t>altitude</a:t>
            </a:r>
            <a:r>
              <a:rPr lang="de-DE" dirty="0"/>
              <a:t>. Wie tief ist zu tief? Für jede </a:t>
            </a:r>
            <a:r>
              <a:rPr lang="de-DE" dirty="0" err="1"/>
              <a:t>ankunftsgeschwindigkeit</a:t>
            </a:r>
            <a:r>
              <a:rPr lang="de-DE" dirty="0"/>
              <a:t> die gezeigte Grafik erstellt. 379km </a:t>
            </a:r>
            <a:r>
              <a:rPr lang="de-DE" dirty="0" err="1"/>
              <a:t>flyby</a:t>
            </a:r>
            <a:r>
              <a:rPr lang="de-DE" dirty="0"/>
              <a:t> = crash, 380km </a:t>
            </a:r>
            <a:r>
              <a:rPr lang="de-DE" dirty="0" err="1"/>
              <a:t>fine</a:t>
            </a:r>
            <a:r>
              <a:rPr lang="de-DE" dirty="0"/>
              <a:t>. Unteres Limit für </a:t>
            </a:r>
            <a:r>
              <a:rPr lang="de-DE" dirty="0" err="1"/>
              <a:t>aerobraking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2. Höhere </a:t>
            </a:r>
            <a:r>
              <a:rPr lang="de-DE" dirty="0" err="1"/>
              <a:t>ankunftsgeschwindigkeit</a:t>
            </a:r>
            <a:r>
              <a:rPr lang="de-DE" dirty="0"/>
              <a:t> benötigt mehr Energieverlust im 1. </a:t>
            </a:r>
            <a:r>
              <a:rPr lang="de-DE" dirty="0" err="1"/>
              <a:t>Flyby</a:t>
            </a:r>
            <a:r>
              <a:rPr lang="de-DE" dirty="0"/>
              <a:t> um auf elliptischen Orbit zu kommen</a:t>
            </a:r>
          </a:p>
          <a:p>
            <a:pPr marL="171450" indent="-171450">
              <a:buFontTx/>
              <a:buChar char="-"/>
            </a:pPr>
            <a:r>
              <a:rPr lang="de-DE" dirty="0"/>
              <a:t>5.5 km/s mit 1250 km wird so gerade noch elliptisch. -&gt; Oberes Limit</a:t>
            </a:r>
          </a:p>
          <a:p>
            <a:pPr marL="171450" indent="-171450">
              <a:buFontTx/>
              <a:buChar char="-"/>
            </a:pPr>
            <a:r>
              <a:rPr lang="de-DE" dirty="0"/>
              <a:t>Wieso 1250 km und nicht tiefer? Wärmebelastung gleich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897840-0A03-E07D-926C-67DB6FE34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946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5555-C793-B060-C359-89D7D77E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A18E0D-CB1B-8F5B-C8A2-7D450D28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12D986-D16E-2975-27E3-A287A76D5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Erstmal verwirrend</a:t>
            </a:r>
          </a:p>
          <a:p>
            <a:r>
              <a:rPr lang="de-DE" dirty="0"/>
              <a:t>X-Achse: </a:t>
            </a:r>
            <a:r>
              <a:rPr lang="de-DE" dirty="0" err="1"/>
              <a:t>ankunftsgeschwindigkeit</a:t>
            </a:r>
            <a:r>
              <a:rPr lang="de-DE" dirty="0"/>
              <a:t> relativ zu </a:t>
            </a:r>
            <a:r>
              <a:rPr lang="de-DE" dirty="0" err="1"/>
              <a:t>saturn</a:t>
            </a:r>
            <a:endParaRPr lang="de-DE" dirty="0"/>
          </a:p>
          <a:p>
            <a:r>
              <a:rPr lang="de-DE" dirty="0" err="1"/>
              <a:t>Y-achse</a:t>
            </a:r>
            <a:r>
              <a:rPr lang="de-DE" dirty="0"/>
              <a:t>: </a:t>
            </a:r>
            <a:r>
              <a:rPr lang="de-DE" dirty="0" err="1"/>
              <a:t>flyby</a:t>
            </a:r>
            <a:r>
              <a:rPr lang="de-DE" dirty="0"/>
              <a:t> </a:t>
            </a:r>
            <a:r>
              <a:rPr lang="de-DE" dirty="0" err="1"/>
              <a:t>altitude</a:t>
            </a:r>
            <a:endParaRPr lang="de-DE" dirty="0"/>
          </a:p>
          <a:p>
            <a:r>
              <a:rPr lang="de-DE" dirty="0"/>
              <a:t>Datenpunkte sind mögliche </a:t>
            </a:r>
            <a:r>
              <a:rPr lang="de-DE" dirty="0" err="1"/>
              <a:t>flyby</a:t>
            </a:r>
            <a:r>
              <a:rPr lang="de-DE" dirty="0"/>
              <a:t>/</a:t>
            </a:r>
            <a:r>
              <a:rPr lang="de-DE" dirty="0" err="1"/>
              <a:t>aerobraking</a:t>
            </a:r>
            <a:r>
              <a:rPr lang="de-DE" dirty="0"/>
              <a:t> höhen, die ohne weiter </a:t>
            </a:r>
            <a:r>
              <a:rPr lang="de-DE" dirty="0" err="1"/>
              <a:t>schubmanöver</a:t>
            </a:r>
            <a:r>
              <a:rPr lang="de-DE" dirty="0"/>
              <a:t> in 2. </a:t>
            </a:r>
            <a:r>
              <a:rPr lang="de-DE" dirty="0" err="1"/>
              <a:t>flyby</a:t>
            </a:r>
            <a:r>
              <a:rPr lang="de-DE" dirty="0"/>
              <a:t> resultieren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Schlüsselerkenntnis anwenden und auf niedrige höhen fokussieren und beide Limits im Plot hinzufügen</a:t>
            </a:r>
          </a:p>
          <a:p>
            <a:pPr marL="171450" indent="-171450">
              <a:buFontTx/>
              <a:buChar char="-"/>
            </a:pPr>
            <a:r>
              <a:rPr lang="de-DE" dirty="0"/>
              <a:t>Aus gezeigten </a:t>
            </a:r>
            <a:r>
              <a:rPr lang="de-DE" dirty="0" err="1"/>
              <a:t>plot</a:t>
            </a:r>
            <a:r>
              <a:rPr lang="de-DE" dirty="0"/>
              <a:t> wird -&gt; neuer </a:t>
            </a:r>
            <a:r>
              <a:rPr lang="de-DE" dirty="0" err="1"/>
              <a:t>plot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Schwarze </a:t>
            </a:r>
            <a:r>
              <a:rPr lang="de-DE" dirty="0" err="1"/>
              <a:t>linien</a:t>
            </a:r>
            <a:r>
              <a:rPr lang="de-DE" dirty="0"/>
              <a:t> die </a:t>
            </a:r>
            <a:r>
              <a:rPr lang="de-DE" dirty="0" err="1"/>
              <a:t>limits</a:t>
            </a:r>
            <a:r>
              <a:rPr lang="de-DE" dirty="0"/>
              <a:t>. Graue </a:t>
            </a:r>
            <a:r>
              <a:rPr lang="de-DE" dirty="0" err="1"/>
              <a:t>linie</a:t>
            </a:r>
            <a:r>
              <a:rPr lang="de-DE" dirty="0"/>
              <a:t> für </a:t>
            </a:r>
            <a:r>
              <a:rPr lang="de-DE" dirty="0" err="1"/>
              <a:t>wärmeentwicklung</a:t>
            </a:r>
            <a:r>
              <a:rPr lang="de-DE" dirty="0"/>
              <a:t> relevant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FB094B-8F36-5E99-9FE4-24A6377F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5616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7C0EF-A095-A719-C225-4C061438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E691EE-C282-B3AA-FA4F-4FBFA2A9E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BD8FDBD-757F-BC43-2EDF-092F5CA20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Verschiedene Wärmeableitungssysteme haben verschiedene Limits. </a:t>
            </a:r>
            <a:r>
              <a:rPr lang="de-DE" dirty="0" err="1"/>
              <a:t>Ablatives</a:t>
            </a:r>
            <a:r>
              <a:rPr lang="de-DE" dirty="0"/>
              <a:t> System hält 20x mehr aus als Strahlungskühlung</a:t>
            </a:r>
          </a:p>
          <a:p>
            <a:pPr marL="171450" indent="-171450">
              <a:buFontTx/>
              <a:buChar char="-"/>
            </a:pPr>
            <a:r>
              <a:rPr lang="de-DE" dirty="0"/>
              <a:t>Strahlungskühlung hat jedoch deutliche Vorteile: konstante Wärmeableitung, keine Veränderung der Oberfläche durch Ablation, wiederverwendbare Fläche</a:t>
            </a:r>
          </a:p>
          <a:p>
            <a:pPr marL="171450" indent="-171450">
              <a:buFontTx/>
              <a:buChar char="-"/>
            </a:pPr>
            <a:r>
              <a:rPr lang="de-DE" dirty="0"/>
              <a:t>Außerdem benötigt </a:t>
            </a:r>
            <a:r>
              <a:rPr lang="de-DE" dirty="0" err="1"/>
              <a:t>ablativer</a:t>
            </a:r>
            <a:r>
              <a:rPr lang="de-DE" dirty="0"/>
              <a:t> Hitzeschild weitere Berechnungen, die über die Thesis hinausgehen</a:t>
            </a:r>
          </a:p>
          <a:p>
            <a:pPr marL="171450" indent="-171450">
              <a:buFontTx/>
              <a:buChar char="-"/>
            </a:pPr>
            <a:r>
              <a:rPr lang="de-DE" dirty="0"/>
              <a:t>Strahlungskühlung limitiert die maximale Ankunftsgeschwindigkeit auf 4.25 km/s und die niedrigste </a:t>
            </a:r>
            <a:r>
              <a:rPr lang="de-DE" dirty="0" err="1"/>
              <a:t>aerobrakinghöhe</a:t>
            </a:r>
            <a:r>
              <a:rPr lang="de-DE" dirty="0"/>
              <a:t> zusätzlich zum bereits existierenden Limit. (Graue Linie im vorherigen </a:t>
            </a:r>
            <a:r>
              <a:rPr lang="de-DE" dirty="0" err="1"/>
              <a:t>plot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AA3A73-ECE0-D322-A1EF-7367144C6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1776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694B-12FB-6658-8FCE-F12E1931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788255-5931-9D86-A5AF-85570D500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ADBE24-8617-B235-4944-19AA8B641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Eine Konfiguration die alle Kriterien erfüllt ist hier gezeigt. 500.55km </a:t>
            </a:r>
            <a:r>
              <a:rPr lang="de-DE" dirty="0" err="1"/>
              <a:t>aerobraking</a:t>
            </a:r>
            <a:r>
              <a:rPr lang="de-DE" dirty="0"/>
              <a:t> höhe 2.5km/s </a:t>
            </a:r>
            <a:r>
              <a:rPr lang="de-DE" dirty="0" err="1"/>
              <a:t>ankunftsgeschwindigkeit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2 </a:t>
            </a:r>
            <a:r>
              <a:rPr lang="de-DE" dirty="0" err="1"/>
              <a:t>aerobraking</a:t>
            </a:r>
            <a:r>
              <a:rPr lang="de-DE" dirty="0"/>
              <a:t> </a:t>
            </a:r>
            <a:r>
              <a:rPr lang="de-DE" dirty="0" err="1"/>
              <a:t>manöver</a:t>
            </a:r>
            <a:r>
              <a:rPr lang="de-DE" dirty="0"/>
              <a:t> und 1 </a:t>
            </a:r>
            <a:r>
              <a:rPr lang="de-DE" dirty="0" err="1"/>
              <a:t>gravity</a:t>
            </a:r>
            <a:r>
              <a:rPr lang="de-DE" dirty="0"/>
              <a:t> </a:t>
            </a:r>
            <a:r>
              <a:rPr lang="de-DE" dirty="0" err="1"/>
              <a:t>assist</a:t>
            </a:r>
            <a:r>
              <a:rPr lang="de-DE" dirty="0"/>
              <a:t> sorgt für das erreichen des gezeigten </a:t>
            </a:r>
            <a:r>
              <a:rPr lang="de-DE" dirty="0" err="1"/>
              <a:t>orbits</a:t>
            </a:r>
            <a:r>
              <a:rPr lang="de-DE" dirty="0"/>
              <a:t> in 10 Monaten</a:t>
            </a:r>
          </a:p>
          <a:p>
            <a:pPr marL="171450" indent="-171450">
              <a:buFontTx/>
              <a:buChar char="-"/>
            </a:pPr>
            <a:r>
              <a:rPr lang="de-DE" dirty="0"/>
              <a:t>Wärmebelastungen unter 30 W/cm^2 und somit problemlos machbar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FA3117-1272-6CF8-C46E-BE7A585CA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9890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3EFC-A60F-A971-2294-DD6C686B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C8CB38A-5499-EDB4-B6BC-A6FF0094D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01BD4E-AC68-9660-0B00-A8C222E6F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Um den Orbit am Ende mit Enceladus zu synchronisieren, reicht ein elektrisches oder </a:t>
            </a:r>
            <a:r>
              <a:rPr lang="de-DE" dirty="0" err="1"/>
              <a:t>niedrigschub</a:t>
            </a:r>
            <a:r>
              <a:rPr lang="de-DE" dirty="0"/>
              <a:t> Triebwerk aus. Zusätzliche Einsparung an Treibstoff da Niedrigschubsysteme effizienter als hohe Schubsysteme.</a:t>
            </a:r>
          </a:p>
          <a:p>
            <a:pPr marL="171450" indent="-171450">
              <a:buFontTx/>
              <a:buChar char="-"/>
            </a:pPr>
            <a:r>
              <a:rPr lang="de-DE" dirty="0"/>
              <a:t>Grau gestrichelte Linie ist vielfaches von Enceladus Umlaufzeit. (Hier das 7fache. 1 Orbit vom </a:t>
            </a:r>
            <a:r>
              <a:rPr lang="de-DE" dirty="0" err="1"/>
              <a:t>Spacecraft</a:t>
            </a:r>
            <a:r>
              <a:rPr lang="de-DE" dirty="0"/>
              <a:t> = 7 Orbits von Enceladus) </a:t>
            </a:r>
          </a:p>
          <a:p>
            <a:pPr marL="171450" indent="-171450">
              <a:buFontTx/>
              <a:buChar char="-"/>
            </a:pPr>
            <a:r>
              <a:rPr lang="de-DE" dirty="0"/>
              <a:t>Finaler Enceladus synchroner Orbit in unter 11 Monaten mit minimalem Treibstoffverbrauch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BB28EE-D15C-A7DD-FD97-067186E29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3767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3EE4F-FA98-84D6-96B9-7CB28AB0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019F01-9263-CF07-A27F-76924A704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9516556-55F2-89C4-23B8-DF5FA816A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Zusammenfassend:</a:t>
            </a:r>
          </a:p>
          <a:p>
            <a:pPr marL="171450" indent="-171450">
              <a:buFontTx/>
              <a:buChar char="-"/>
            </a:pPr>
            <a:r>
              <a:rPr lang="de-DE" dirty="0"/>
              <a:t>Titan optimaler Himmelskörper für </a:t>
            </a:r>
            <a:r>
              <a:rPr lang="de-DE" dirty="0" err="1"/>
              <a:t>Aerobraking</a:t>
            </a:r>
            <a:r>
              <a:rPr lang="de-DE" dirty="0"/>
              <a:t> im Saturnsystem</a:t>
            </a:r>
          </a:p>
          <a:p>
            <a:pPr marL="171450" indent="-171450">
              <a:buFontTx/>
              <a:buChar char="-"/>
            </a:pPr>
            <a:r>
              <a:rPr lang="de-DE" dirty="0"/>
              <a:t>TAGAS erwiesen, präzise Simulationen zu liefern, die die Interaktion zwischen dem </a:t>
            </a:r>
            <a:r>
              <a:rPr lang="de-DE" dirty="0" err="1"/>
              <a:t>Spacecraft</a:t>
            </a:r>
            <a:r>
              <a:rPr lang="de-DE" dirty="0"/>
              <a:t>, Titan und Saturn darstellt</a:t>
            </a:r>
          </a:p>
          <a:p>
            <a:pPr marL="171450" indent="-171450">
              <a:buFontTx/>
              <a:buChar char="-"/>
            </a:pPr>
            <a:r>
              <a:rPr lang="de-DE" dirty="0"/>
              <a:t>Korrekte Nutzung von </a:t>
            </a:r>
            <a:r>
              <a:rPr lang="de-DE" dirty="0" err="1"/>
              <a:t>aerobraking</a:t>
            </a:r>
            <a:r>
              <a:rPr lang="de-DE" dirty="0"/>
              <a:t> erlaubt es treibstoffkosten drastisch zu senken und mit weiteren Untersuchungen ggfs. sogar elektrische Schubsysteme zu nutzen</a:t>
            </a:r>
          </a:p>
          <a:p>
            <a:pPr marL="171450" indent="-171450">
              <a:buFontTx/>
              <a:buChar char="-"/>
            </a:pPr>
            <a:r>
              <a:rPr lang="de-DE" dirty="0"/>
              <a:t>Höhere Ankunftsgeschwindigkeiten von über 5.5km/s </a:t>
            </a:r>
            <a:r>
              <a:rPr lang="de-DE" dirty="0" err="1"/>
              <a:t>immernoch</a:t>
            </a:r>
            <a:r>
              <a:rPr lang="de-DE" dirty="0"/>
              <a:t> für </a:t>
            </a:r>
            <a:r>
              <a:rPr lang="de-DE" dirty="0" err="1"/>
              <a:t>Aerobraking</a:t>
            </a:r>
            <a:r>
              <a:rPr lang="de-DE" dirty="0"/>
              <a:t> nutzbar, benötigen jedoch weitere Nachforschungen in Bezug auf </a:t>
            </a:r>
            <a:r>
              <a:rPr lang="de-DE" dirty="0" err="1"/>
              <a:t>ablative</a:t>
            </a:r>
            <a:r>
              <a:rPr lang="de-DE" dirty="0"/>
              <a:t> Hitzeschutzmaßnahmen</a:t>
            </a:r>
          </a:p>
          <a:p>
            <a:pPr marL="171450" indent="-171450">
              <a:buFontTx/>
              <a:buChar char="-"/>
            </a:pPr>
            <a:r>
              <a:rPr lang="de-DE" dirty="0"/>
              <a:t>Programm erweiterbar mit Echtzeitdaten von Titan/Enceladus um tatsächliche Zeitfenster für den Launch zu bekommen, Atmosphärenmodell erweiterbar mit minimaler, nominaler und maximaler Atmosphärendichte um Veränderungen der Flugbahn analysieren zu können, Programm auf 3-Dimensionen ausweiten.</a:t>
            </a:r>
          </a:p>
          <a:p>
            <a:pPr marL="171450" indent="-171450">
              <a:buFontTx/>
              <a:buChar char="-"/>
            </a:pPr>
            <a:r>
              <a:rPr lang="de-DE" dirty="0"/>
              <a:t>Interessanter Ansatzpunkt für Forschung: Autonomes System entwickeln welches die Oberfläche, die der Atmosphäre ausgesetzt ist und den Widerstand bestimmt verändert, je nach tatsächlich gemessener atmosphärendichte. Geringere dichte als erwartet -&gt; Fläche vergrößern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01DE22-5388-EE08-2FE1-4455C6D66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989347-AD5F-4D76-AD54-244CA050A51A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510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5CEE-338B-4DB6-A994-22789E0BB34A}" type="datetime1">
              <a:rPr lang="en-US" smtClean="0"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40A0-6D2C-4A82-B9C9-CB8EF0CB8C93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B158-8C1B-4FBA-A0AC-1D4E4D092D45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B3C3-184B-4683-AD39-A9AA76FFC3C8}" type="datetime1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50183-2F1A-47CB-B8D4-967AFF625719}" type="datetime1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0447-B094-4BF2-9435-43AB9353AD19}" type="datetime1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D336-1F4B-44A7-A124-7182DA4958EF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DC7C0-0FFA-471E-AA74-EEA9432CF7F9}" type="datetime1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DE22-CE4A-4262-B508-7C47D2600B96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412E-1060-4CE2-B6FD-913262C4C23D}" type="datetime1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22CE1-D977-463A-94C9-96B6266FCE29}" type="datetime1">
              <a:rPr lang="en-US" smtClean="0"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7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20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customXml" Target="../ink/ink4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26.png"/><Relationship Id="rId24" Type="http://schemas.openxmlformats.org/officeDocument/2006/relationships/customXml" Target="../ink/ink10.xml"/><Relationship Id="rId5" Type="http://schemas.openxmlformats.org/officeDocument/2006/relationships/image" Target="../media/image1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947955" y="1967896"/>
            <a:ext cx="79064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Usage of Gravity Assists and Aerobraking at Titan for a Mission to Enceladus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A3B71D4-8876-9FEA-32A9-C60297710BD0}"/>
              </a:ext>
            </a:extLst>
          </p:cNvPr>
          <p:cNvSpPr txBox="1"/>
          <p:nvPr/>
        </p:nvSpPr>
        <p:spPr>
          <a:xfrm>
            <a:off x="6005801" y="5362287"/>
            <a:ext cx="2970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pPr algn="r"/>
            <a:r>
              <a:rPr lang="en-US" sz="1600" noProof="0" dirty="0">
                <a:latin typeface="+mj-lt"/>
                <a:cs typeface="Arial" panose="020B0604020202020204" pitchFamily="34" charset="0"/>
              </a:rPr>
              <a:t>FH Aachen</a:t>
            </a:r>
            <a:br>
              <a:rPr lang="en-US" sz="1600" noProof="0" dirty="0">
                <a:latin typeface="+mj-lt"/>
                <a:cs typeface="Arial" panose="020B0604020202020204" pitchFamily="34" charset="0"/>
              </a:rPr>
            </a:br>
            <a:r>
              <a:rPr lang="en-US" sz="1600" noProof="0" dirty="0">
                <a:latin typeface="+mj-lt"/>
                <a:cs typeface="Arial" panose="020B0604020202020204" pitchFamily="34" charset="0"/>
              </a:rPr>
              <a:t>Faculty 6, Aerospace Engineering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21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34EF-5766-379E-77BD-DC0643BF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24B472-1CED-1B59-F4C0-C8C0E020E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Modern space exploration focuses on finding life (</a:t>
            </a:r>
            <a:r>
              <a:rPr lang="en-US" sz="1600" noProof="0" dirty="0" err="1">
                <a:latin typeface="+mj-lt"/>
                <a:cs typeface="Arial" panose="020B0604020202020204" pitchFamily="34" charset="0"/>
              </a:rPr>
              <a:t>Dachwald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, 2025)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9205F20-E06D-9FB4-BE6F-5B47D777962B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CD44BEA-0FF0-EB4C-0314-0297791897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76B34A0-CB40-F3A8-579D-797CE979D1F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2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33B6A6F6-A3FB-1200-39A5-B89EDFCCAF85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515529F4-FF65-04A6-331A-4A163D88C542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9FEBFF2-5383-9B56-8BAC-A2F1F403BAC3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F541AE5B-FE0C-428B-E965-A32FBA9B25BD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A9D32D8-50F8-DD0F-64D1-9CC38EC2AEEE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Enceladus high priority target (ESA, 2024)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E23E15D-67B6-9EA0-3860-87486492FD55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Standard deceleration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in Saturnian system requires tons of fuel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2A10684-C053-AEDA-09BD-63C3B8A3B72F}"/>
              </a:ext>
            </a:extLst>
          </p:cNvPr>
          <p:cNvSpPr txBox="1">
            <a:spLocks/>
          </p:cNvSpPr>
          <p:nvPr/>
        </p:nvSpPr>
        <p:spPr>
          <a:xfrm>
            <a:off x="1747333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Gravity assist &amp; aerobraking proven to be effective (ESA, 2017)</a:t>
            </a:r>
          </a:p>
        </p:txBody>
      </p:sp>
    </p:spTree>
    <p:extLst>
      <p:ext uri="{BB962C8B-B14F-4D97-AF65-F5344CB8AC3E}">
        <p14:creationId xmlns:p14="http://schemas.microsoft.com/office/powerpoint/2010/main" val="14606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D93C-AA88-3A91-1427-9FDD5532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23">
            <a:extLst>
              <a:ext uri="{FF2B5EF4-FFF2-40B4-BE49-F238E27FC236}">
                <a16:creationId xmlns:a16="http://schemas.microsoft.com/office/drawing/2014/main" id="{3BC9869B-7212-B215-545C-963BB1D39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783" y="1419244"/>
            <a:ext cx="5451401" cy="264546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088F1E7-AA29-8961-4C5B-FF3D66FD064C}"/>
              </a:ext>
            </a:extLst>
          </p:cNvPr>
          <p:cNvSpPr txBox="1"/>
          <p:nvPr/>
        </p:nvSpPr>
        <p:spPr>
          <a:xfrm>
            <a:off x="1122630" y="220890"/>
            <a:ext cx="633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Background – Gravity Assist &amp; Aerobraking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79B0C2D-54C8-E878-7AE3-138B761130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CCC068F-F403-7AA6-51B2-7D229AE10E79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3 of 21</a:t>
            </a: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1FB3534A-5138-6B88-321D-2C0473F4F704}"/>
              </a:ext>
            </a:extLst>
          </p:cNvPr>
          <p:cNvSpPr/>
          <p:nvPr/>
        </p:nvSpPr>
        <p:spPr>
          <a:xfrm rot="16200000">
            <a:off x="1426347" y="1241702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48969127-3A76-C2EB-DF9B-34EEFC7B3223}"/>
              </a:ext>
            </a:extLst>
          </p:cNvPr>
          <p:cNvSpPr/>
          <p:nvPr/>
        </p:nvSpPr>
        <p:spPr>
          <a:xfrm rot="16200000">
            <a:off x="1426355" y="445410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2B379DE-3EC7-AB6D-EC97-A4230F79E3FD}"/>
              </a:ext>
            </a:extLst>
          </p:cNvPr>
          <p:cNvSpPr txBox="1">
            <a:spLocks/>
          </p:cNvSpPr>
          <p:nvPr/>
        </p:nvSpPr>
        <p:spPr>
          <a:xfrm>
            <a:off x="1747312" y="1160085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Fly behind = orbital energy increases   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Fly ahead = orbital energy decreases	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0DB6E0E-3607-959B-12F3-BD3C11357747}"/>
              </a:ext>
            </a:extLst>
          </p:cNvPr>
          <p:cNvSpPr txBox="1">
            <a:spLocks/>
          </p:cNvSpPr>
          <p:nvPr/>
        </p:nvSpPr>
        <p:spPr>
          <a:xfrm>
            <a:off x="1747312" y="4347776"/>
            <a:ext cx="439835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Gravitational force decreases with square of the distance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ED873-7DE1-9B8D-E5B7-60EF74C1BC54}"/>
              </a:ext>
            </a:extLst>
          </p:cNvPr>
          <p:cNvSpPr txBox="1"/>
          <p:nvPr/>
        </p:nvSpPr>
        <p:spPr>
          <a:xfrm>
            <a:off x="6145661" y="3900649"/>
            <a:ext cx="1694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+mj-lt"/>
              </a:rPr>
              <a:t>(Brown, 1998)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9AAB7-3E21-6A81-AC39-2247602E35D8}"/>
              </a:ext>
            </a:extLst>
          </p:cNvPr>
          <p:cNvSpPr txBox="1"/>
          <p:nvPr/>
        </p:nvSpPr>
        <p:spPr>
          <a:xfrm>
            <a:off x="3528910" y="3900648"/>
            <a:ext cx="1694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+mj-lt"/>
              </a:rPr>
              <a:t>(Brown, 1998)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7EFEBA-7C74-2D6C-0802-0E02F7202319}"/>
              </a:ext>
            </a:extLst>
          </p:cNvPr>
          <p:cNvGrpSpPr/>
          <p:nvPr/>
        </p:nvGrpSpPr>
        <p:grpSpPr>
          <a:xfrm>
            <a:off x="5986755" y="4212099"/>
            <a:ext cx="3686109" cy="801446"/>
            <a:chOff x="5986771" y="5137143"/>
            <a:chExt cx="3686109" cy="801446"/>
          </a:xfrm>
        </p:grpSpPr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004B3E30-9AF5-3859-9EB1-09B83246D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86771" y="5137143"/>
              <a:ext cx="2375555" cy="7550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365B18-FF12-182E-2F27-F341844C60C2}"/>
                </a:ext>
              </a:extLst>
            </p:cNvPr>
            <p:cNvSpPr txBox="1"/>
            <p:nvPr/>
          </p:nvSpPr>
          <p:spPr>
            <a:xfrm>
              <a:off x="7461926" y="5676979"/>
              <a:ext cx="2210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(Roy, 2005)</a:t>
              </a:r>
            </a:p>
          </p:txBody>
        </p:sp>
      </p:grpSp>
      <p:sp>
        <p:nvSpPr>
          <p:cNvPr id="9" name="Flussdiagramm: Zusammenführen 4">
            <a:extLst>
              <a:ext uri="{FF2B5EF4-FFF2-40B4-BE49-F238E27FC236}">
                <a16:creationId xmlns:a16="http://schemas.microsoft.com/office/drawing/2014/main" id="{2F293D9E-022D-FF34-4183-022C12533963}"/>
              </a:ext>
            </a:extLst>
          </p:cNvPr>
          <p:cNvSpPr/>
          <p:nvPr/>
        </p:nvSpPr>
        <p:spPr>
          <a:xfrm rot="16200000">
            <a:off x="1426345" y="535741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8AD686-2984-E12C-29AA-DC3FA02214A4}"/>
              </a:ext>
            </a:extLst>
          </p:cNvPr>
          <p:cNvSpPr txBox="1">
            <a:spLocks/>
          </p:cNvSpPr>
          <p:nvPr/>
        </p:nvSpPr>
        <p:spPr>
          <a:xfrm>
            <a:off x="1747302" y="525108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Aerobraking can only reduce energy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FEC960-67A6-3270-9F3F-7416FE947688}"/>
              </a:ext>
            </a:extLst>
          </p:cNvPr>
          <p:cNvGrpSpPr/>
          <p:nvPr/>
        </p:nvGrpSpPr>
        <p:grpSpPr>
          <a:xfrm>
            <a:off x="6145661" y="5097192"/>
            <a:ext cx="3328422" cy="955732"/>
            <a:chOff x="6225480" y="4726397"/>
            <a:chExt cx="3328422" cy="955732"/>
          </a:xfrm>
        </p:grpSpPr>
        <p:pic>
          <p:nvPicPr>
            <p:cNvPr id="20" name="Grafik 17">
              <a:extLst>
                <a:ext uri="{FF2B5EF4-FFF2-40B4-BE49-F238E27FC236}">
                  <a16:creationId xmlns:a16="http://schemas.microsoft.com/office/drawing/2014/main" id="{82A28861-684B-1CD8-4F5C-A7756FE4F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5480" y="4726397"/>
              <a:ext cx="2133898" cy="90500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8DAB40-9B27-56A8-A1F8-F911BDD6C315}"/>
                </a:ext>
              </a:extLst>
            </p:cNvPr>
            <p:cNvSpPr txBox="1"/>
            <p:nvPr/>
          </p:nvSpPr>
          <p:spPr>
            <a:xfrm>
              <a:off x="7342948" y="5420519"/>
              <a:ext cx="2210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(Hall, 2023)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82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BD01-8323-B8D1-9CE3-D9E23668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1E2981CF-1949-5C1D-8EE0-5192E598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637" y="3433087"/>
            <a:ext cx="4641272" cy="291664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0A53DE2-AB9B-919C-2FB7-8FBE33384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19" y="1267336"/>
            <a:ext cx="6081687" cy="857555"/>
          </a:xfrm>
        </p:spPr>
        <p:txBody>
          <a:bodyPr>
            <a:normAutofit lnSpcReduction="10000"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Enceladus has no atmosphere and very little mass, making it unsuitable for both maneuvers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	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5322996-55E4-D742-49B5-65C9FCF3A427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Background – Titan &amp; Enceladus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8E626457-BDDC-4132-A590-9467657B0A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1F05D26-43A4-49A1-3B62-D9CBD9ED5264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4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F86E7E1D-D421-BA73-B9AD-75ECB98DAD1A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56601EA7-A05D-4A97-AE29-DF9874F2D273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11F28033-9B3C-3A6F-E6B4-1B492EA96DD9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5629505-788E-99B1-D0E2-81ED93C9A346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081686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Another celestial body is required for aerobraking or gravity assist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1D9A898-918F-1528-BAF7-A101D8FA7332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 different moon in the </a:t>
            </a: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Saturnian System,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Titan, has about </a:t>
            </a: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1250 times the mass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&amp; a very dense atmosphere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9D94B88-5726-5ECA-54CE-A9ED4F5FE8EA}"/>
              </a:ext>
            </a:extLst>
          </p:cNvPr>
          <p:cNvSpPr txBox="1">
            <a:spLocks/>
          </p:cNvSpPr>
          <p:nvPr/>
        </p:nvSpPr>
        <p:spPr>
          <a:xfrm>
            <a:off x="1747291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1FC25C4-B128-D7FF-9B07-34480D0FCECD}"/>
              </a:ext>
            </a:extLst>
          </p:cNvPr>
          <p:cNvSpPr txBox="1">
            <a:spLocks/>
          </p:cNvSpPr>
          <p:nvPr/>
        </p:nvSpPr>
        <p:spPr>
          <a:xfrm>
            <a:off x="1747306" y="4014201"/>
            <a:ext cx="727899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C6C8B90-6F51-9120-E7E8-011126F99E7E}"/>
              </a:ext>
            </a:extLst>
          </p:cNvPr>
          <p:cNvSpPr txBox="1">
            <a:spLocks/>
          </p:cNvSpPr>
          <p:nvPr/>
        </p:nvSpPr>
        <p:spPr>
          <a:xfrm>
            <a:off x="1747292" y="4694789"/>
            <a:ext cx="7125104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264E92-776E-4BA4-2D5B-6EBE3B347679}"/>
              </a:ext>
            </a:extLst>
          </p:cNvPr>
          <p:cNvGrpSpPr/>
          <p:nvPr/>
        </p:nvGrpSpPr>
        <p:grpSpPr>
          <a:xfrm>
            <a:off x="1439510" y="3429000"/>
            <a:ext cx="8278617" cy="3170589"/>
            <a:chOff x="1439510" y="3429000"/>
            <a:chExt cx="8278617" cy="3170589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75BD1666-63D5-6CC5-1FE9-DF9B61641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9510" y="3429000"/>
              <a:ext cx="7578286" cy="29292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45BD24-1B49-7EE2-1A4A-9E825DDC3999}"/>
                </a:ext>
              </a:extLst>
            </p:cNvPr>
            <p:cNvSpPr txBox="1"/>
            <p:nvPr/>
          </p:nvSpPr>
          <p:spPr>
            <a:xfrm>
              <a:off x="7507173" y="6337979"/>
              <a:ext cx="2210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(Lazcano &amp; Hand, 2012)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45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0056-55C3-0EBD-082C-C172E0DC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EFB739A9-1CF7-FA51-E526-A4759987E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986" y="935862"/>
            <a:ext cx="2833657" cy="362875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6848C98-C8B1-1259-B697-482A8B1B7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19" y="1267336"/>
            <a:ext cx="3683509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Investigate feasibility of gravity assists &amp; aerobraking at Titan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9FFED1-4A41-C3FA-7DAB-01E6035352DE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Objectives</a:t>
            </a:r>
            <a:endParaRPr lang="en-US" sz="2400" noProof="0" dirty="0">
              <a:solidFill>
                <a:srgbClr val="008080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B054F248-6F35-8FF5-4840-C2F8ACEFBC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D0EEBB8-6AA2-EFA6-68A8-44C8C8EBF0F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5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4973016C-19D6-D906-1A8E-C937BBC33BA0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F6788C94-30C8-2FB3-021D-6C22E59C9894}"/>
              </a:ext>
            </a:extLst>
          </p:cNvPr>
          <p:cNvSpPr/>
          <p:nvPr/>
        </p:nvSpPr>
        <p:spPr>
          <a:xfrm rot="16200000">
            <a:off x="1426360" y="2369953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2BA4C661-0FE4-B0AF-CDC0-AACA372C10E9}"/>
              </a:ext>
            </a:extLst>
          </p:cNvPr>
          <p:cNvSpPr/>
          <p:nvPr/>
        </p:nvSpPr>
        <p:spPr>
          <a:xfrm rot="16200000">
            <a:off x="1426369" y="333843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12C9B6B9-6396-2AC0-3133-8C5618DAA626}"/>
              </a:ext>
            </a:extLst>
          </p:cNvPr>
          <p:cNvSpPr/>
          <p:nvPr/>
        </p:nvSpPr>
        <p:spPr>
          <a:xfrm rot="16200000">
            <a:off x="1426368" y="476937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6C5E23B-476B-FF53-601A-79D69CB39B9B}"/>
              </a:ext>
            </a:extLst>
          </p:cNvPr>
          <p:cNvSpPr txBox="1">
            <a:spLocks/>
          </p:cNvSpPr>
          <p:nvPr/>
        </p:nvSpPr>
        <p:spPr>
          <a:xfrm>
            <a:off x="1747326" y="2252738"/>
            <a:ext cx="3683502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Optimize trajectories to lower propellant needs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E594839-EDCD-7A82-F775-038165624ED4}"/>
              </a:ext>
            </a:extLst>
          </p:cNvPr>
          <p:cNvSpPr txBox="1">
            <a:spLocks/>
          </p:cNvSpPr>
          <p:nvPr/>
        </p:nvSpPr>
        <p:spPr>
          <a:xfrm>
            <a:off x="1747326" y="3232101"/>
            <a:ext cx="3638035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Analyze thermal loads and possible limitations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92C1117-CAA8-6832-EED3-2DFEC2F69329}"/>
              </a:ext>
            </a:extLst>
          </p:cNvPr>
          <p:cNvSpPr txBox="1">
            <a:spLocks/>
          </p:cNvSpPr>
          <p:nvPr/>
        </p:nvSpPr>
        <p:spPr>
          <a:xfrm>
            <a:off x="1747345" y="466260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2400" b="1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Establish a stable orbit around Enceladus with minimal fuel</a:t>
            </a:r>
          </a:p>
        </p:txBody>
      </p:sp>
    </p:spTree>
    <p:extLst>
      <p:ext uri="{BB962C8B-B14F-4D97-AF65-F5344CB8AC3E}">
        <p14:creationId xmlns:p14="http://schemas.microsoft.com/office/powerpoint/2010/main" val="4270207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2A5FDA-8839-5A9F-9318-2FDF64BC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960A66-C693-C88B-79C1-7B2E5A873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Accurate simulations are required to plan missions including aerobraking &amp; gravity assist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CD3B816-4A47-9FD3-65F0-C49A2FBA4799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Purpose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76C5FE23-65CA-7BBF-0010-6EE424795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F1237CB-4456-7B90-BA61-6DBDF1A0E0E3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6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85E4E5BA-8E65-9264-7967-7B1DC21D4F73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1D3E1B27-265E-871D-56CF-DF339A5A3738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7AA418C9-B693-C63E-A247-A7D7F77F5ED8}"/>
              </a:ext>
            </a:extLst>
          </p:cNvPr>
          <p:cNvSpPr/>
          <p:nvPr/>
        </p:nvSpPr>
        <p:spPr>
          <a:xfrm rot="16200000">
            <a:off x="1426343" y="284827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4722968B-B00C-3668-9013-FE5605DDA040}"/>
              </a:ext>
            </a:extLst>
          </p:cNvPr>
          <p:cNvSpPr/>
          <p:nvPr/>
        </p:nvSpPr>
        <p:spPr>
          <a:xfrm rot="16200000">
            <a:off x="1426339" y="347499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46D4358-70EC-C3E3-777A-847E6E674EB6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Simulate movement of Saturn, Titan and Enceladus and the trajectory of a spacecraft entering Saturn’s sphere of influence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D93276E-73AC-0434-B5EC-69D523430596}"/>
              </a:ext>
            </a:extLst>
          </p:cNvPr>
          <p:cNvSpPr txBox="1">
            <a:spLocks/>
          </p:cNvSpPr>
          <p:nvPr/>
        </p:nvSpPr>
        <p:spPr>
          <a:xfrm>
            <a:off x="1747320" y="2741499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First overview if aerobraking is feasible and strong enough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61C776C-0DB8-F42A-1E00-D1BE5D2CAAF0}"/>
              </a:ext>
            </a:extLst>
          </p:cNvPr>
          <p:cNvSpPr txBox="1">
            <a:spLocks/>
          </p:cNvSpPr>
          <p:nvPr/>
        </p:nvSpPr>
        <p:spPr>
          <a:xfrm>
            <a:off x="1747277" y="3359207"/>
            <a:ext cx="7125104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Provide valuable data to analyze results and optimize trajectories for different requirements </a:t>
            </a:r>
          </a:p>
        </p:txBody>
      </p:sp>
    </p:spTree>
    <p:extLst>
      <p:ext uri="{BB962C8B-B14F-4D97-AF65-F5344CB8AC3E}">
        <p14:creationId xmlns:p14="http://schemas.microsoft.com/office/powerpoint/2010/main" val="81336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D6D156-7119-8F59-CF32-EA0DD62D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A22C8F-E8D0-1C33-E3BB-E08667EA8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0693" y="1298347"/>
            <a:ext cx="5441134" cy="412695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Divided into 12 regions</a:t>
            </a:r>
            <a:endParaRPr lang="en-US" sz="14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B26D317-88C0-A17D-BDD8-30C16D0B391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Overview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CC9AA281-9E50-46E5-BF14-AF961D3B50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7BBE736-2A55-6CF1-1D50-EB43DA809C8E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8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A1F1F9B3-F9E7-45DB-BB41-964B52BE2A16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141327F-7D35-5580-84C8-32FA710499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" b="-307"/>
          <a:stretch/>
        </p:blipFill>
        <p:spPr>
          <a:xfrm>
            <a:off x="1204110" y="1774371"/>
            <a:ext cx="6129197" cy="443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2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B7AF-BB9E-E07C-ABBA-C2AA523D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B8DC8803-53BB-51A7-4528-36EE3020296D}"/>
              </a:ext>
            </a:extLst>
          </p:cNvPr>
          <p:cNvSpPr txBox="1"/>
          <p:nvPr/>
        </p:nvSpPr>
        <p:spPr>
          <a:xfrm>
            <a:off x="947955" y="1967896"/>
            <a:ext cx="79064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Titan Aerobraking and Gravity Assist Simulator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FC7C0328-82CB-565E-9FBD-5C8BB509E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E89C554-FB1D-303A-73DA-D2F5B59AD56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6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21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0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3" y="1293295"/>
            <a:ext cx="5441134" cy="589828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TAGAS requires 2 type of inputs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Input 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7 of 21</a:t>
            </a: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6693E1-E6AB-31B0-753A-92B1BE0F71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5215" y="2131456"/>
            <a:ext cx="7751246" cy="367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2" y="1266970"/>
            <a:ext cx="1993413" cy="422799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Plot trajectory option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10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9C9201-CE5A-A837-76CA-CF722EF84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06" y="1787118"/>
            <a:ext cx="8504278" cy="415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30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7CF2E6-0633-DE78-33E9-B71CCEB8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F6337916-83DB-E0AF-E1B4-359591C97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53" y="1709306"/>
            <a:ext cx="8384557" cy="456538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79A2E57-8327-292E-27ED-4D04EB0C7B82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9947B0A5-3C9E-9A16-9170-56CBF35FB0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DDFF701-DAEE-CD7B-50BF-4D468A7755F6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11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C34B8E4A-EA04-D39A-EB8B-2DE81BF106BC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C93C1FB-7346-6530-62D2-B10DFF300361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trajectory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45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2AB899-E128-3322-5DA0-529F191E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F75421B-4E1D-08AA-E60C-752CF0ECA2D5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5B065372-073F-DB98-0B72-997AE1EA7E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49D3F49-D728-9116-C360-76D06C48A5D1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12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FCEF6D9B-7633-6E0C-8FB0-4361706DD738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DB697E2-7A8C-5A59-9F68-00ED4542A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510" y="1698914"/>
            <a:ext cx="7061392" cy="467749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9C82E775-2DE8-3C92-AEC4-C855EABF357C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trajectory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0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13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E9A882-4FEA-4DFA-9B9F-342E65AD4A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5830" y="1774478"/>
            <a:ext cx="7145462" cy="404844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B3A6C19-AC6E-E19C-2368-318116A80CC5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5961708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atmospheric model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70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14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A455B19-3B7F-37D5-E3B1-BDA6A14DAC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562710"/>
            <a:ext cx="9143999" cy="47196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3F872B2-BCF2-7706-1CA9-E089F9FB53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" y="1562710"/>
            <a:ext cx="9143999" cy="471963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92E5A2A-9E50-E34F-DB70-7BE5EB6421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" y="1562710"/>
            <a:ext cx="9143997" cy="4719636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B81EA14E-B9A6-170A-1379-B20BC5596053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values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8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15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D63AA6-3F4E-2F6B-223C-1C630FE1B41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4AB882B-655A-2ADB-50F8-4B987792D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03" y="1706647"/>
            <a:ext cx="6071324" cy="4525824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E4744DE-5828-19C6-8FEF-8E5D4ACDDC71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1993413" cy="422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comparison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156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741EEC-75FA-1752-478D-A3D9A485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341EA8A7-17BD-3189-BF9D-0DC7875E45B5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- Output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76496388-B958-87BA-AC57-038F5D28E2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6781DBE-6D7D-9AC5-F181-A0331DF45621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16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32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67003A8C-665A-BE2F-3A26-C473123F6FCB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6" name="Grafik 5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8626D287-2068-CB94-334F-5A8048E5E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510" y="1818696"/>
            <a:ext cx="5725879" cy="4368668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C30B310F-9668-B9E9-5703-2BEB50807879}"/>
              </a:ext>
            </a:extLst>
          </p:cNvPr>
          <p:cNvSpPr txBox="1">
            <a:spLocks/>
          </p:cNvSpPr>
          <p:nvPr/>
        </p:nvSpPr>
        <p:spPr>
          <a:xfrm>
            <a:off x="1810692" y="1266970"/>
            <a:ext cx="2493556" cy="4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Plot heating rate 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option</a:t>
            </a:r>
            <a:endParaRPr lang="en-US" sz="160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603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7320" y="1293295"/>
            <a:ext cx="5504507" cy="668209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2 step exponential model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Atmospheric model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17 of 21</a:t>
            </a: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1DA18E-2DC7-EF57-BA36-FB058990FD7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9B921FB-2A4E-36A5-8E3E-2578C7918A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39511" y="2814934"/>
            <a:ext cx="6701662" cy="347472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852F35B3-B2B2-7B57-507D-BA53AFDFF5BB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Calculates Titan’s atmospheric density based on spacecraft’s position</a:t>
            </a:r>
          </a:p>
        </p:txBody>
      </p:sp>
      <p:sp>
        <p:nvSpPr>
          <p:cNvPr id="21" name="Flussdiagramm: Zusammenführen 20">
            <a:extLst>
              <a:ext uri="{FF2B5EF4-FFF2-40B4-BE49-F238E27FC236}">
                <a16:creationId xmlns:a16="http://schemas.microsoft.com/office/drawing/2014/main" id="{00243394-4FC6-7DF6-D17D-6F0F69E58FB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22" name="Flussdiagramm: Zusammenführen 21">
            <a:extLst>
              <a:ext uri="{FF2B5EF4-FFF2-40B4-BE49-F238E27FC236}">
                <a16:creationId xmlns:a16="http://schemas.microsoft.com/office/drawing/2014/main" id="{46D94A2C-85FC-3526-CF68-795E8D087AC2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8996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326AAE6-6CE8-B56E-F680-B83455855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747" y="3735750"/>
            <a:ext cx="4314104" cy="27399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2175517-95B3-60F9-BD67-9068D47BB8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4633" y="1704516"/>
            <a:ext cx="6728630" cy="154122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3" y="1249377"/>
            <a:ext cx="5441134" cy="633746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600" noProof="0" dirty="0">
                <a:latin typeface="+mj-lt"/>
                <a:cs typeface="Arial" panose="020B0604020202020204" pitchFamily="34" charset="0"/>
              </a:rPr>
              <a:t>4 functions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6880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Equations of Motion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AU" sz="1000" dirty="0">
                <a:latin typeface="+mj-lt"/>
                <a:cs typeface="Arial" panose="020B0604020202020204" pitchFamily="34" charset="0"/>
              </a:rPr>
              <a:t>Slide 19</a:t>
            </a:r>
            <a:r>
              <a:rPr lang="en-AU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84A37653-D6DC-7F4F-763D-1A3C184AF728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534338F7-6EC5-0AF9-4093-C0C4CE4F1C41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  <p:sp>
        <p:nvSpPr>
          <p:cNvPr id="21" name="Flussdiagramm: Zusammenführen 20">
            <a:extLst>
              <a:ext uri="{FF2B5EF4-FFF2-40B4-BE49-F238E27FC236}">
                <a16:creationId xmlns:a16="http://schemas.microsoft.com/office/drawing/2014/main" id="{1C39BB7E-5E2B-F92F-1529-54612B42CBB2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4EE3178C-B823-2242-93E0-2209C34B552E}"/>
              </a:ext>
            </a:extLst>
          </p:cNvPr>
          <p:cNvSpPr txBox="1">
            <a:spLocks/>
          </p:cNvSpPr>
          <p:nvPr/>
        </p:nvSpPr>
        <p:spPr>
          <a:xfrm>
            <a:off x="1747291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5 differential equations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97B45711-872C-05B8-4EEA-9C936ACA0B3B}"/>
              </a:ext>
            </a:extLst>
          </p:cNvPr>
          <p:cNvSpPr txBox="1">
            <a:spLocks/>
          </p:cNvSpPr>
          <p:nvPr/>
        </p:nvSpPr>
        <p:spPr>
          <a:xfrm>
            <a:off x="1274633" y="4196508"/>
            <a:ext cx="6953047" cy="1818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Centrifugal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Gravitational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Atmospheric drag</a:t>
            </a:r>
            <a:r>
              <a:rPr lang="en-AU" sz="18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Propulsion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8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Coriolis acceleration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endParaRPr lang="en-AU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B49B4072-95F2-F885-BBA2-AD46C3BC6BC4}"/>
                  </a:ext>
                </a:extLst>
              </p14:cNvPr>
              <p14:cNvContentPartPr/>
              <p14:nvPr/>
            </p14:nvContentPartPr>
            <p14:xfrm>
              <a:off x="5252710" y="5602770"/>
              <a:ext cx="622080" cy="360"/>
            </p14:xfrm>
          </p:contentPart>
        </mc:Choice>
        <mc:Fallback xmlns=""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B49B4072-95F2-F885-BBA2-AD46C3BC6B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81070" y="5458770"/>
                <a:ext cx="7657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1F44A616-42B3-2507-14DB-7D4BA14CEA93}"/>
                  </a:ext>
                </a:extLst>
              </p14:cNvPr>
              <p14:cNvContentPartPr/>
              <p14:nvPr/>
            </p14:nvContentPartPr>
            <p14:xfrm>
              <a:off x="6157750" y="5541570"/>
              <a:ext cx="554040" cy="36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1F44A616-42B3-2507-14DB-7D4BA14CEA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68110" y="5361570"/>
                <a:ext cx="733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7F432FB9-C734-1B8B-C7EB-22B8A7249680}"/>
                  </a:ext>
                </a:extLst>
              </p14:cNvPr>
              <p14:cNvContentPartPr/>
              <p14:nvPr/>
            </p14:nvContentPartPr>
            <p14:xfrm>
              <a:off x="6245230" y="5031090"/>
              <a:ext cx="517320" cy="36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7F432FB9-C734-1B8B-C7EB-22B8A72496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5590" y="4851450"/>
                <a:ext cx="6969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7" name="Freihand 56">
                <a:extLst>
                  <a:ext uri="{FF2B5EF4-FFF2-40B4-BE49-F238E27FC236}">
                    <a16:creationId xmlns:a16="http://schemas.microsoft.com/office/drawing/2014/main" id="{5BBFD195-044C-92A0-D12D-08FEF237D69E}"/>
                  </a:ext>
                </a:extLst>
              </p14:cNvPr>
              <p14:cNvContentPartPr/>
              <p14:nvPr/>
            </p14:nvContentPartPr>
            <p14:xfrm>
              <a:off x="1388830" y="5051970"/>
              <a:ext cx="3012480" cy="360"/>
            </p14:xfrm>
          </p:contentPart>
        </mc:Choice>
        <mc:Fallback xmlns="">
          <p:pic>
            <p:nvPicPr>
              <p:cNvPr id="57" name="Freihand 56">
                <a:extLst>
                  <a:ext uri="{FF2B5EF4-FFF2-40B4-BE49-F238E27FC236}">
                    <a16:creationId xmlns:a16="http://schemas.microsoft.com/office/drawing/2014/main" id="{5BBFD195-044C-92A0-D12D-08FEF237D6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17190" y="4908330"/>
                <a:ext cx="3156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9" name="Freihand 58">
                <a:extLst>
                  <a:ext uri="{FF2B5EF4-FFF2-40B4-BE49-F238E27FC236}">
                    <a16:creationId xmlns:a16="http://schemas.microsoft.com/office/drawing/2014/main" id="{20624A54-EE91-9D2C-5DA4-6EF9646680A2}"/>
                  </a:ext>
                </a:extLst>
              </p14:cNvPr>
              <p14:cNvContentPartPr/>
              <p14:nvPr/>
            </p14:nvContentPartPr>
            <p14:xfrm>
              <a:off x="1384510" y="5708610"/>
              <a:ext cx="2009520" cy="360"/>
            </p14:xfrm>
          </p:contentPart>
        </mc:Choice>
        <mc:Fallback xmlns="">
          <p:pic>
            <p:nvPicPr>
              <p:cNvPr id="59" name="Freihand 58">
                <a:extLst>
                  <a:ext uri="{FF2B5EF4-FFF2-40B4-BE49-F238E27FC236}">
                    <a16:creationId xmlns:a16="http://schemas.microsoft.com/office/drawing/2014/main" id="{20624A54-EE91-9D2C-5DA4-6EF9646680A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12510" y="5564970"/>
                <a:ext cx="21531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0" name="Freihand 59">
                <a:extLst>
                  <a:ext uri="{FF2B5EF4-FFF2-40B4-BE49-F238E27FC236}">
                    <a16:creationId xmlns:a16="http://schemas.microsoft.com/office/drawing/2014/main" id="{075CF46E-0852-281C-9311-E52572872B9A}"/>
                  </a:ext>
                </a:extLst>
              </p14:cNvPr>
              <p14:cNvContentPartPr/>
              <p14:nvPr/>
            </p14:nvContentPartPr>
            <p14:xfrm>
              <a:off x="1363270" y="5370210"/>
              <a:ext cx="2332800" cy="360"/>
            </p14:xfrm>
          </p:contentPart>
        </mc:Choice>
        <mc:Fallback xmlns="">
          <p:pic>
            <p:nvPicPr>
              <p:cNvPr id="60" name="Freihand 59">
                <a:extLst>
                  <a:ext uri="{FF2B5EF4-FFF2-40B4-BE49-F238E27FC236}">
                    <a16:creationId xmlns:a16="http://schemas.microsoft.com/office/drawing/2014/main" id="{075CF46E-0852-281C-9311-E52572872B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91630" y="5226570"/>
                <a:ext cx="24764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Freihand 60">
                <a:extLst>
                  <a:ext uri="{FF2B5EF4-FFF2-40B4-BE49-F238E27FC236}">
                    <a16:creationId xmlns:a16="http://schemas.microsoft.com/office/drawing/2014/main" id="{B4A3FA3A-7BB9-AB66-27FE-448AC8BA9B02}"/>
                  </a:ext>
                </a:extLst>
              </p14:cNvPr>
              <p14:cNvContentPartPr/>
              <p14:nvPr/>
            </p14:nvContentPartPr>
            <p14:xfrm>
              <a:off x="6996550" y="5561730"/>
              <a:ext cx="1085040" cy="360"/>
            </p14:xfrm>
          </p:contentPart>
        </mc:Choice>
        <mc:Fallback xmlns="">
          <p:pic>
            <p:nvPicPr>
              <p:cNvPr id="61" name="Freihand 60">
                <a:extLst>
                  <a:ext uri="{FF2B5EF4-FFF2-40B4-BE49-F238E27FC236}">
                    <a16:creationId xmlns:a16="http://schemas.microsoft.com/office/drawing/2014/main" id="{B4A3FA3A-7BB9-AB66-27FE-448AC8BA9B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06910" y="5381730"/>
                <a:ext cx="126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Freihand 61">
                <a:extLst>
                  <a:ext uri="{FF2B5EF4-FFF2-40B4-BE49-F238E27FC236}">
                    <a16:creationId xmlns:a16="http://schemas.microsoft.com/office/drawing/2014/main" id="{34F7AAE6-5770-F171-8168-6A8BD16BB6C1}"/>
                  </a:ext>
                </a:extLst>
              </p14:cNvPr>
              <p14:cNvContentPartPr/>
              <p14:nvPr/>
            </p14:nvContentPartPr>
            <p14:xfrm>
              <a:off x="7093750" y="5061330"/>
              <a:ext cx="1191240" cy="360"/>
            </p14:xfrm>
          </p:contentPart>
        </mc:Choice>
        <mc:Fallback xmlns="">
          <p:pic>
            <p:nvPicPr>
              <p:cNvPr id="62" name="Freihand 61">
                <a:extLst>
                  <a:ext uri="{FF2B5EF4-FFF2-40B4-BE49-F238E27FC236}">
                    <a16:creationId xmlns:a16="http://schemas.microsoft.com/office/drawing/2014/main" id="{34F7AAE6-5770-F171-8168-6A8BD16BB6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04110" y="4881690"/>
                <a:ext cx="1370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899FF0A0-649E-695C-C490-93060EE01889}"/>
                  </a:ext>
                </a:extLst>
              </p14:cNvPr>
              <p14:cNvContentPartPr/>
              <p14:nvPr/>
            </p14:nvContentPartPr>
            <p14:xfrm>
              <a:off x="1409710" y="4728690"/>
              <a:ext cx="2485080" cy="36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899FF0A0-649E-695C-C490-93060EE018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38070" y="4585050"/>
                <a:ext cx="26287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4" name="Freihand 63">
                <a:extLst>
                  <a:ext uri="{FF2B5EF4-FFF2-40B4-BE49-F238E27FC236}">
                    <a16:creationId xmlns:a16="http://schemas.microsoft.com/office/drawing/2014/main" id="{A739F0E5-9203-0079-6A32-C1277023DF4E}"/>
                  </a:ext>
                </a:extLst>
              </p14:cNvPr>
              <p14:cNvContentPartPr/>
              <p14:nvPr/>
            </p14:nvContentPartPr>
            <p14:xfrm>
              <a:off x="5798110" y="5071770"/>
              <a:ext cx="82800" cy="360"/>
            </p14:xfrm>
          </p:contentPart>
        </mc:Choice>
        <mc:Fallback xmlns="">
          <p:pic>
            <p:nvPicPr>
              <p:cNvPr id="64" name="Freihand 63">
                <a:extLst>
                  <a:ext uri="{FF2B5EF4-FFF2-40B4-BE49-F238E27FC236}">
                    <a16:creationId xmlns:a16="http://schemas.microsoft.com/office/drawing/2014/main" id="{A739F0E5-9203-0079-6A32-C1277023DF4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08470" y="4891770"/>
                <a:ext cx="262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Freihand 64">
                <a:extLst>
                  <a:ext uri="{FF2B5EF4-FFF2-40B4-BE49-F238E27FC236}">
                    <a16:creationId xmlns:a16="http://schemas.microsoft.com/office/drawing/2014/main" id="{AD52E95A-ECCE-E4E3-4838-EDF98183B398}"/>
                  </a:ext>
                </a:extLst>
              </p14:cNvPr>
              <p14:cNvContentPartPr/>
              <p14:nvPr/>
            </p14:nvContentPartPr>
            <p14:xfrm>
              <a:off x="5253790" y="5061330"/>
              <a:ext cx="199080" cy="360"/>
            </p14:xfrm>
          </p:contentPart>
        </mc:Choice>
        <mc:Fallback xmlns="">
          <p:pic>
            <p:nvPicPr>
              <p:cNvPr id="65" name="Freihand 64">
                <a:extLst>
                  <a:ext uri="{FF2B5EF4-FFF2-40B4-BE49-F238E27FC236}">
                    <a16:creationId xmlns:a16="http://schemas.microsoft.com/office/drawing/2014/main" id="{AD52E95A-ECCE-E4E3-4838-EDF98183B39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64150" y="4881690"/>
                <a:ext cx="3787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14E44E5E-1414-1BA7-AA02-8C362689C26E}"/>
                  </a:ext>
                </a:extLst>
              </p14:cNvPr>
              <p14:cNvContentPartPr/>
              <p14:nvPr/>
            </p14:nvContentPartPr>
            <p14:xfrm>
              <a:off x="1397470" y="4390290"/>
              <a:ext cx="2320920" cy="360"/>
            </p14:xfrm>
          </p:contentPart>
        </mc:Choice>
        <mc:Fallback xmlns=""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14E44E5E-1414-1BA7-AA02-8C362689C26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25830" y="4246290"/>
                <a:ext cx="246456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7169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22BC7-0391-C303-13A8-CEAE686C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1EE765D7-0675-F88F-3075-8B9DB493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6286" y="1205385"/>
            <a:ext cx="5016919" cy="47290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91D0D43-9FE8-6739-A8AD-81F610B5F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2517011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Titan’s position is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not stationary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9FCAED-ECCC-B853-E8F4-8BB70063FD07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Launch Delay Iteration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340E844-47F2-C7EB-0E47-463F905A67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B66C527-A7DF-7DB8-0183-3E29ADC3FACD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8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D92390D1-6DB1-D25E-5881-26A0A2C8F232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53539CF7-BB75-E5F5-C41F-FB35ABCE11A1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Flussdiagramm: Zusammenführen 6">
            <a:extLst>
              <a:ext uri="{FF2B5EF4-FFF2-40B4-BE49-F238E27FC236}">
                <a16:creationId xmlns:a16="http://schemas.microsoft.com/office/drawing/2014/main" id="{F0BBFBE3-E821-1E17-6A57-7FD992E188AB}"/>
              </a:ext>
            </a:extLst>
          </p:cNvPr>
          <p:cNvSpPr/>
          <p:nvPr/>
        </p:nvSpPr>
        <p:spPr>
          <a:xfrm rot="16200000">
            <a:off x="1426358" y="4134816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55EFBD1-0FF4-F70B-69B7-14A1DFD22CE1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2517026" cy="1202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Correct arrival time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is essential for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the maneuver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24C24D4-4EDF-C067-70CC-354FC90B3354}"/>
              </a:ext>
            </a:extLst>
          </p:cNvPr>
          <p:cNvSpPr txBox="1">
            <a:spLocks/>
          </p:cNvSpPr>
          <p:nvPr/>
        </p:nvSpPr>
        <p:spPr>
          <a:xfrm>
            <a:off x="1747307" y="4014201"/>
            <a:ext cx="2517026" cy="1513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TAGAS uses iteration process to find that time and applies it for further use</a:t>
            </a:r>
          </a:p>
        </p:txBody>
      </p:sp>
    </p:spTree>
    <p:extLst>
      <p:ext uri="{BB962C8B-B14F-4D97-AF65-F5344CB8AC3E}">
        <p14:creationId xmlns:p14="http://schemas.microsoft.com/office/powerpoint/2010/main" val="3375508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CDDE-3CDA-82D3-81D2-AFF2DDE4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E72790CC-914B-4344-3544-3D88E4F20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0"/>
          <a:stretch/>
        </p:blipFill>
        <p:spPr>
          <a:xfrm>
            <a:off x="4310767" y="1139526"/>
            <a:ext cx="4752402" cy="486217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9D3AE5E-975D-769D-15F9-62967278D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1 Flyby not sufficient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58A5D27-1123-6669-E59B-03C668EF624D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TAGAS – Aerobraking Altitude Iteration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C4ECF3F2-9326-01C7-C110-46B1E4B4E0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FE119F12-9730-CB89-5784-34FE5DEF96C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9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EE29B448-6245-22D3-FB54-A2F9086311F0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6F724BD0-183D-ED35-69B1-3BAE93CC7DF9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2C479FF1-5360-3E22-9997-1653216ECFD9}"/>
              </a:ext>
            </a:extLst>
          </p:cNvPr>
          <p:cNvSpPr/>
          <p:nvPr/>
        </p:nvSpPr>
        <p:spPr>
          <a:xfrm rot="16200000">
            <a:off x="1426354" y="4810572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D3630B6-B9E4-A323-90D6-83D27EEA587F}"/>
              </a:ext>
            </a:extLst>
          </p:cNvPr>
          <p:cNvSpPr txBox="1">
            <a:spLocks/>
          </p:cNvSpPr>
          <p:nvPr/>
        </p:nvSpPr>
        <p:spPr>
          <a:xfrm>
            <a:off x="1747306" y="2651866"/>
            <a:ext cx="2696173" cy="132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Orbital period of first orbit depends on altitude of first maneuver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361C08E-FDFD-C9F7-E016-07D43C53E7CE}"/>
              </a:ext>
            </a:extLst>
          </p:cNvPr>
          <p:cNvSpPr txBox="1">
            <a:spLocks/>
          </p:cNvSpPr>
          <p:nvPr/>
        </p:nvSpPr>
        <p:spPr>
          <a:xfrm>
            <a:off x="1747292" y="4694789"/>
            <a:ext cx="2764085" cy="146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Does the “perfect” aerobraking altitude that results in a second (or more?) aerobraking maneuver exist?</a:t>
            </a:r>
          </a:p>
        </p:txBody>
      </p:sp>
    </p:spTree>
    <p:extLst>
      <p:ext uri="{BB962C8B-B14F-4D97-AF65-F5344CB8AC3E}">
        <p14:creationId xmlns:p14="http://schemas.microsoft.com/office/powerpoint/2010/main" val="3294674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762FBC0-096D-FA90-F5E3-642674790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2630" y="2005205"/>
            <a:ext cx="7127178" cy="415240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693" y="1293295"/>
            <a:ext cx="6166310" cy="589828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AU" sz="1600" noProof="0" dirty="0">
                <a:latin typeface="+mj-lt"/>
                <a:cs typeface="Arial" panose="020B0604020202020204" pitchFamily="34" charset="0"/>
              </a:rPr>
              <a:t>Comparison to recorded data from Cassini-Huygens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Atmospheric model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AU" sz="1000" dirty="0">
                <a:latin typeface="+mj-lt"/>
                <a:cs typeface="Arial" panose="020B0604020202020204" pitchFamily="34" charset="0"/>
              </a:rPr>
              <a:t>Slide 10 of 21</a:t>
            </a:r>
            <a:endParaRPr lang="en-AU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Flussdiagramm: Zusammenführen 10">
            <a:extLst>
              <a:ext uri="{FF2B5EF4-FFF2-40B4-BE49-F238E27FC236}">
                <a16:creationId xmlns:a16="http://schemas.microsoft.com/office/drawing/2014/main" id="{EA1DA18E-2DC7-EF57-BA36-FB058990FD7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0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8262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44CD2-0399-FB9A-731C-AD41B1FB0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6752195-BB25-954D-9FAB-46D31179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301" y="3083079"/>
            <a:ext cx="4617765" cy="340865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965E231-D6DC-3CEB-B5E2-3E7B208D9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Comparison to Titan orbiter study from 2016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5E78638-50AF-91D6-B8B2-140F2CD788FF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Gravitational forces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41B3A64B-47F1-5D33-F315-01DA0F47DA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E5B0F60-17A8-CDEE-420A-DB422968D68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11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C3369CCE-8E86-2FB2-1DDA-A0E66B9062E5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483C763C-23D1-BF3F-E19E-6FF8A7B5C84F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F912653E-218C-FB93-E4A2-B9EEBE0D665A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4EB120B-D53B-AF05-F1E7-A213D6A65185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Recreating the trajectory to Titan using the same initial parameters of the study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92A733E-241B-ADD0-4EA6-22FB84CC7286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Comparing spacecraft’s velocity when arriving at Titan from TAGAS to the study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Flussdiagramm: Zusammenführen 5">
            <a:extLst>
              <a:ext uri="{FF2B5EF4-FFF2-40B4-BE49-F238E27FC236}">
                <a16:creationId xmlns:a16="http://schemas.microsoft.com/office/drawing/2014/main" id="{FD247024-60BD-78F7-B08D-FDDE238E0C14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6375C34-40CB-F38E-2402-32A37F177A24}"/>
              </a:ext>
            </a:extLst>
          </p:cNvPr>
          <p:cNvSpPr txBox="1">
            <a:spLocks/>
          </p:cNvSpPr>
          <p:nvPr/>
        </p:nvSpPr>
        <p:spPr>
          <a:xfrm>
            <a:off x="1747333" y="3333613"/>
            <a:ext cx="695304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Error within 0.0016%</a:t>
            </a:r>
          </a:p>
        </p:txBody>
      </p:sp>
    </p:spTree>
    <p:extLst>
      <p:ext uri="{BB962C8B-B14F-4D97-AF65-F5344CB8AC3E}">
        <p14:creationId xmlns:p14="http://schemas.microsoft.com/office/powerpoint/2010/main" val="3098058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58B7-71F1-F7E0-882A-3763AF92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274455-9DD9-A31D-056B-6819D3DFC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Comparison to “Aerocapture System Analysis for a Titan Mission” study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68915CB-85FC-0C58-B1B3-0D92A6101F91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Aerodynamic forces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AFC3D60D-2F3E-BBD9-5418-5D5FD714BA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548E112-F64F-5B5A-BB06-AFDAD7C3D2A9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12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D0198AF5-B1C7-FCEB-8395-363DAFB1ED51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53DF4D90-CDBA-214A-76D8-FB9F9A3882C0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CD6E6509-B683-245F-94F6-E6A2ED535543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CA67451-72EE-C836-EE78-F74C3804AB6C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Study investigates the change in velocity during an aerobraking maneuver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03C8B1-30EB-2D00-E6C2-B6B1F41E2DCD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Recreating the same initial state and displaying the results like the study yields the following: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F1C827D-1181-FF45-E741-13BDF73434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99" y="3404936"/>
            <a:ext cx="4148975" cy="307143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0FA3D5E-8847-72AA-1FF2-D12599771CD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5423" y="3363994"/>
            <a:ext cx="4565383" cy="3142375"/>
            <a:chOff x="625423" y="3363994"/>
            <a:chExt cx="4565383" cy="314237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31EBFBC-01D6-DC5D-D90D-05F9E061EF8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rcRect t="440"/>
            <a:stretch/>
          </p:blipFill>
          <p:spPr>
            <a:xfrm>
              <a:off x="625423" y="3363994"/>
              <a:ext cx="4025476" cy="301157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1CD2E0-F150-54CE-F607-110118E287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5882" y="6244759"/>
              <a:ext cx="16949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(Way et al., 2003)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3F6711-E1A7-D81A-D8ED-9D4716046940}"/>
              </a:ext>
            </a:extLst>
          </p:cNvPr>
          <p:cNvGrpSpPr/>
          <p:nvPr/>
        </p:nvGrpSpPr>
        <p:grpSpPr>
          <a:xfrm>
            <a:off x="2642798" y="3350751"/>
            <a:ext cx="4807386" cy="3155618"/>
            <a:chOff x="2289307" y="3429000"/>
            <a:chExt cx="4740534" cy="309719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406055-3822-E74E-7CBB-E349FADD5889}"/>
                </a:ext>
              </a:extLst>
            </p:cNvPr>
            <p:cNvGrpSpPr/>
            <p:nvPr/>
          </p:nvGrpSpPr>
          <p:grpSpPr>
            <a:xfrm>
              <a:off x="2289307" y="3429000"/>
              <a:ext cx="4740534" cy="3097196"/>
              <a:chOff x="625423" y="3363994"/>
              <a:chExt cx="4740534" cy="3097196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DE7F5A8-62AC-974A-066A-F11139E18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440"/>
              <a:stretch/>
            </p:blipFill>
            <p:spPr>
              <a:xfrm>
                <a:off x="625423" y="3363994"/>
                <a:ext cx="4025476" cy="301157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ED580C-8BC5-6CC8-2B8C-8421B63241DC}"/>
                  </a:ext>
                </a:extLst>
              </p:cNvPr>
              <p:cNvSpPr txBox="1"/>
              <p:nvPr/>
            </p:nvSpPr>
            <p:spPr>
              <a:xfrm>
                <a:off x="3671033" y="6199580"/>
                <a:ext cx="169492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100" dirty="0">
                    <a:latin typeface="+mj-lt"/>
                  </a:rPr>
                  <a:t>(Way et al., 2003)</a:t>
                </a:r>
              </a:p>
            </p:txBody>
          </p:sp>
        </p:grpSp>
        <p:pic>
          <p:nvPicPr>
            <p:cNvPr id="15" name="Picture 14" descr="A graph of a graph with blue dots&#10;&#10;AI-generated content may be incorrect.">
              <a:extLst>
                <a:ext uri="{FF2B5EF4-FFF2-40B4-BE49-F238E27FC236}">
                  <a16:creationId xmlns:a16="http://schemas.microsoft.com/office/drawing/2014/main" id="{86DC30FF-F91E-5B76-8462-9F6AD125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6971" t="13797" r="11325" b="15994"/>
            <a:stretch/>
          </p:blipFill>
          <p:spPr>
            <a:xfrm>
              <a:off x="2871061" y="3563320"/>
              <a:ext cx="3311319" cy="2431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122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07407E-6 L 0.19618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L -0.26771 -0.0055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-2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09D96-7129-8998-68B5-86D4732C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166F455-3FA4-96C0-F875-F350685EB0DC}"/>
              </a:ext>
            </a:extLst>
          </p:cNvPr>
          <p:cNvGrpSpPr/>
          <p:nvPr/>
        </p:nvGrpSpPr>
        <p:grpSpPr>
          <a:xfrm>
            <a:off x="884088" y="3211807"/>
            <a:ext cx="4289243" cy="3295407"/>
            <a:chOff x="884088" y="3211807"/>
            <a:chExt cx="4289243" cy="329540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DC90D00-6AE7-1F10-4F98-0D971EDEC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088" y="3211807"/>
              <a:ext cx="3687912" cy="329084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923160-3F90-E8E5-D724-45E9B72B26F3}"/>
                </a:ext>
              </a:extLst>
            </p:cNvPr>
            <p:cNvSpPr txBox="1"/>
            <p:nvPr/>
          </p:nvSpPr>
          <p:spPr>
            <a:xfrm>
              <a:off x="3478407" y="6245604"/>
              <a:ext cx="16949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>
                  <a:latin typeface="+mj-lt"/>
                </a:rPr>
                <a:t>(Laub, 2012)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8936F9E-AB95-3130-9D96-95D51723E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100" y="3326100"/>
            <a:ext cx="3808266" cy="305030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646DEF0-437F-837E-9377-9553BBA69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654046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Comparison to NASA study on </a:t>
            </a:r>
            <a:r>
              <a:rPr lang="en-US" sz="1600" noProof="0" dirty="0" err="1">
                <a:latin typeface="+mj-lt"/>
                <a:cs typeface="Arial" panose="020B0604020202020204" pitchFamily="34" charset="0"/>
              </a:rPr>
              <a:t>heatflux</a:t>
            </a:r>
            <a:r>
              <a:rPr lang="en-US" sz="1600" noProof="0" dirty="0">
                <a:latin typeface="+mj-lt"/>
                <a:cs typeface="Arial" panose="020B0604020202020204" pitchFamily="34" charset="0"/>
              </a:rPr>
              <a:t> during aerocapture at Titan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328EDAB-74B8-C346-9DBF-5939D9B4645B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Validation – Aerothermodynamics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791A0E97-272A-3CB8-4CAD-6CAE5F2B5C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7A96F7A-CAC8-E0FA-B157-F816C9C27632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13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1AD300D2-4A7B-20AD-C3DC-AE597F425646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DB08F197-6C33-CEC0-A14F-478563E42CC2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F41560F-5BF5-304D-1A27-06847618EE2B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FB5805-029D-B29F-5391-017669F5C241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654046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Measuring convective &amp; radiative heating rates while the spacecraft is within the atmosphere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2680517-94E5-F1F3-8233-6AF7222CE436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65405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Comparing results of a similar trajectory delivers results of comparable magnitude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52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A9D5-A8ED-47D9-6E49-42D3C441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988DA90-AA97-37BF-6660-AE708838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347" y="1372583"/>
            <a:ext cx="4027057" cy="36149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26785D-2354-EFFA-273E-8CBA17540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2945926" cy="1213163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Wide variety of possible arrival velocities from 0.5 km/s up to 5.5 km/s and higher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9FCE094-8C48-D197-0835-30431B17351B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F1570281-177B-70CB-6750-4E7885E791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3005D3FC-D0C3-2DB3-7111-4CF6BF26219D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14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650EB8C7-C4B0-11A1-3352-DCBA04B48D8D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A0A094A2-783C-F15A-C7B8-1075666B4A74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B20AF0CA-52A4-E610-A573-704528D495A0}"/>
              </a:ext>
            </a:extLst>
          </p:cNvPr>
          <p:cNvSpPr/>
          <p:nvPr/>
        </p:nvSpPr>
        <p:spPr>
          <a:xfrm rot="16200000">
            <a:off x="1426383" y="4198343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B721EBE-3B2D-AA9F-0E18-75A9189433B7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2824693" cy="1106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Lower flyby altitude results in larger change of orbital energy and reaching the desired orbit faster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C982C52-E111-C3FA-2BCD-FB9E890CF3CA}"/>
              </a:ext>
            </a:extLst>
          </p:cNvPr>
          <p:cNvSpPr txBox="1">
            <a:spLocks/>
          </p:cNvSpPr>
          <p:nvPr/>
        </p:nvSpPr>
        <p:spPr>
          <a:xfrm>
            <a:off x="1747320" y="4117499"/>
            <a:ext cx="3996757" cy="116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First optimization interest: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Time of flight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Flussdiagramm: Zusammenführen 8">
            <a:extLst>
              <a:ext uri="{FF2B5EF4-FFF2-40B4-BE49-F238E27FC236}">
                <a16:creationId xmlns:a16="http://schemas.microsoft.com/office/drawing/2014/main" id="{4914C339-13C5-C184-1792-96F7C5E64D20}"/>
              </a:ext>
            </a:extLst>
          </p:cNvPr>
          <p:cNvSpPr/>
          <p:nvPr/>
        </p:nvSpPr>
        <p:spPr>
          <a:xfrm rot="16200000">
            <a:off x="1420924" y="5304979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852E170-DF2B-10EC-01BA-B03D56EB9824}"/>
              </a:ext>
            </a:extLst>
          </p:cNvPr>
          <p:cNvSpPr txBox="1">
            <a:spLocks/>
          </p:cNvSpPr>
          <p:nvPr/>
        </p:nvSpPr>
        <p:spPr>
          <a:xfrm>
            <a:off x="1741861" y="5224135"/>
            <a:ext cx="6608985" cy="9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b="1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Highest arrival velocity &amp; </a:t>
            </a:r>
            <a:r>
              <a:rPr lang="en-US" sz="1600" b="1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Lowest flyby altitude</a:t>
            </a:r>
            <a:endParaRPr lang="en-US" sz="1600" b="1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88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16B2-15DC-747D-B8AB-9E9C6125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D028E72-15D7-5815-4430-7FF345637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726" y="2665106"/>
            <a:ext cx="5134929" cy="368677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B4935A7-20FF-6EDB-774A-C254E01F5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How low is too low? </a:t>
            </a: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Identify lowest altitude that does not result in a crash and add 10% safety margin as a lower boundary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endParaRPr lang="en-US" sz="16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B919B9C-A085-8DC7-DB98-73521A8AC3FF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DE95D02B-FC2E-D5FD-E38D-A7D49FAF44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801649E-0597-4059-1208-CAD16218D087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15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D57598AA-D2E2-B435-1A8D-EBED7278FD63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B01D0ADB-3181-12BD-2FCF-ACB85FD05C6E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3FB712-AA7D-A916-ED9A-5A5B1FE3E57B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For higher arrival velocities the reduction in orbital energy needs to be strong enough to stay within Saturn’s SOI after the first flyby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0B57A0-54CC-E51E-0B65-C7A74A82A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266" y="2665107"/>
            <a:ext cx="5232753" cy="345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0329-9BEC-CD67-921D-D33708C9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435A20-438E-602D-2D75-11B1E2A9B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629" y="2648125"/>
            <a:ext cx="5207032" cy="386275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C65106C-7E6C-021E-D821-382C04781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An upper and lower boundary of possible flyby altitudes exists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BF588D-369D-8F8A-2548-196E48136ADE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6361F9DE-4C17-4875-4107-77F0863515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87FD34C-75EA-A6D9-9CD2-89F04C0CB084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16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70409605-819A-1AC8-9A7D-E7A115F6180F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8C6DBF92-57E9-8794-FD4B-F8EA91BFB0C6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93355D-92E2-2DD7-CBD7-8056EB1C8476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Applying the insights and boundaries changes the possible first flyby altitudes worth investigating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5C6D0-C193-8C25-B785-6A2BB8860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871" y="2648125"/>
            <a:ext cx="5278783" cy="382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3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A414-EAF3-FD87-5A0F-3D8AAC0D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638FE5-DD59-C663-1A81-CE7DBB67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Different thermal protection systems give further limitations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5883F69-E164-43C4-0432-2A8869CC0625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B4FB8528-51A8-728C-A501-ABC6F04924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E4384B6-4B39-E468-57F7-4B9E3B0A7408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17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2CE3DD28-5F99-752F-BD76-DC711FF9FE47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F50BAF13-2E49-B2CD-D65B-B5D0F3006887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ACEE6B2-87EA-D6DE-EA43-DD29A3D19A0D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EB673B7D-F0AD-6EBB-DE1E-55DCD771DEAE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9CF84D5-232F-6206-F220-8915F1D83E3B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Radiative thermal protection offers various advantages (Consistent heat dissipation, no changes in surface area or mass, reusable surface)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EFEE0D2-CF2B-88B9-12D5-5F8983187593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Ablative thermal protection requires a lot more in-depth research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3841962-E70C-6873-6730-C17C177001E2}"/>
              </a:ext>
            </a:extLst>
          </p:cNvPr>
          <p:cNvSpPr txBox="1">
            <a:spLocks/>
          </p:cNvSpPr>
          <p:nvPr/>
        </p:nvSpPr>
        <p:spPr>
          <a:xfrm>
            <a:off x="1747333" y="3333614"/>
            <a:ext cx="6953047" cy="71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Limits maximum arrival velocity to 4.25 km/s and lowest flyby altitudes further than the safety margin (gray line in previous plot)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592EEC-28B4-0827-A901-C956BE266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322" y="4006310"/>
            <a:ext cx="3428392" cy="23768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CB015A-0ACA-A50A-81BD-58B261063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663" y="4004760"/>
            <a:ext cx="3878717" cy="23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02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A85DC-42B5-A95C-73EF-6026E696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865125-0808-DEC6-5FB1-2DA3773C0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Example configuration that fits all criteria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8CE19E7-49DC-D59A-BEA5-FCAB5F430B66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31B73DF3-34CF-D5D7-1650-5852FA9455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7692D14-F891-62A8-7993-D4C103B71D84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18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21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1BEBDE6D-2145-39EB-C069-BF539F933E80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14D61094-35E3-24D1-DBCB-37F1E2ECD5C9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9795D2D-3D86-EA5A-2237-DC143C22E4AE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2 Aerobraking maneuvers and 1 gravity assist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BA8C8F-242C-11A2-91BB-3053AC403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578" y="2398563"/>
            <a:ext cx="4688194" cy="4220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0F02E9-3FFE-3B19-DD37-7FDFCD568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036" y="2606798"/>
            <a:ext cx="5353106" cy="366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8471-B710-D092-814E-CBCF96EC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59517C-73D2-2639-3D37-C10CD2B63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Example configuration that fits all criteria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28E707-B9B7-77CF-6760-3F04FC462164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C669E170-EB47-E652-32AB-AAEE72F9D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B6FF850-3AF8-3F5E-7E05-0E27854ABBE1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19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649C9D53-0B3E-0A9C-1DC1-4108C412FA44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E2174259-CF33-20A6-5347-289061492FFD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0064A39A-5284-AF17-E602-53A964E2B1FA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DE4AB69-EAB1-0160-5FD6-6102AE78E26C}"/>
              </a:ext>
            </a:extLst>
          </p:cNvPr>
          <p:cNvSpPr txBox="1">
            <a:spLocks/>
          </p:cNvSpPr>
          <p:nvPr/>
        </p:nvSpPr>
        <p:spPr>
          <a:xfrm>
            <a:off x="1747320" y="1952980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2 Aerobraking maneuvers and 1 gravity assist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3B7AE67-E6AE-BDCC-3975-1652BD6F80FB}"/>
              </a:ext>
            </a:extLst>
          </p:cNvPr>
          <p:cNvSpPr txBox="1">
            <a:spLocks/>
          </p:cNvSpPr>
          <p:nvPr/>
        </p:nvSpPr>
        <p:spPr>
          <a:xfrm>
            <a:off x="1747307" y="2651866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Electrical propulsion system lowers final orbit to be synchronous with Enceladus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C66FF3-C30A-EF6D-6A94-202BD760F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625" y="3310534"/>
            <a:ext cx="4192758" cy="306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6956-274A-182E-6CD7-26F21F94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F449E4-2BB5-CA33-D847-5DC55F9A7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320" y="1267336"/>
            <a:ext cx="6953060" cy="712127"/>
          </a:xfrm>
        </p:spPr>
        <p:txBody>
          <a:bodyPr>
            <a:norm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latin typeface="+mj-lt"/>
                <a:cs typeface="Arial" panose="020B0604020202020204" pitchFamily="34" charset="0"/>
              </a:rPr>
              <a:t>Titan’s atmosphere proved highly effective for aerobraking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56CBAC6-CFE4-FC78-2CD0-23B3E95B87D3}"/>
              </a:ext>
            </a:extLst>
          </p:cNvPr>
          <p:cNvSpPr txBox="1"/>
          <p:nvPr/>
        </p:nvSpPr>
        <p:spPr>
          <a:xfrm>
            <a:off x="1122630" y="220890"/>
            <a:ext cx="550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Summary – Conclusion &amp; Outlook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3047F798-726D-9ABE-A16C-D1B2BBE3B1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EE22AC2-4062-C0DC-4DDA-4BB5AA337BB8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20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21</a:t>
            </a:r>
          </a:p>
        </p:txBody>
      </p:sp>
      <p:sp>
        <p:nvSpPr>
          <p:cNvPr id="2" name="Flussdiagramm: Zusammenführen 1">
            <a:extLst>
              <a:ext uri="{FF2B5EF4-FFF2-40B4-BE49-F238E27FC236}">
                <a16:creationId xmlns:a16="http://schemas.microsoft.com/office/drawing/2014/main" id="{532A0464-4E46-B85F-5D46-E800089A22C5}"/>
              </a:ext>
            </a:extLst>
          </p:cNvPr>
          <p:cNvSpPr/>
          <p:nvPr/>
        </p:nvSpPr>
        <p:spPr>
          <a:xfrm rot="16200000">
            <a:off x="1426357" y="1385737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4" name="Flussdiagramm: Zusammenführen 3">
            <a:extLst>
              <a:ext uri="{FF2B5EF4-FFF2-40B4-BE49-F238E27FC236}">
                <a16:creationId xmlns:a16="http://schemas.microsoft.com/office/drawing/2014/main" id="{8D774EFF-552D-1579-B7E4-6D92AADC087D}"/>
              </a:ext>
            </a:extLst>
          </p:cNvPr>
          <p:cNvSpPr/>
          <p:nvPr/>
        </p:nvSpPr>
        <p:spPr>
          <a:xfrm rot="16200000">
            <a:off x="1426354" y="2070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Flussdiagramm: Zusammenführen 4">
            <a:extLst>
              <a:ext uri="{FF2B5EF4-FFF2-40B4-BE49-F238E27FC236}">
                <a16:creationId xmlns:a16="http://schemas.microsoft.com/office/drawing/2014/main" id="{26D58B87-AB16-B50A-34BA-1118D8ADF7B2}"/>
              </a:ext>
            </a:extLst>
          </p:cNvPr>
          <p:cNvSpPr/>
          <p:nvPr/>
        </p:nvSpPr>
        <p:spPr>
          <a:xfrm rot="16200000">
            <a:off x="1426350" y="275819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6" name="Flussdiagramm: Zusammenführen 5">
            <a:extLst>
              <a:ext uri="{FF2B5EF4-FFF2-40B4-BE49-F238E27FC236}">
                <a16:creationId xmlns:a16="http://schemas.microsoft.com/office/drawing/2014/main" id="{51B65BB5-607E-465B-D4A0-4010F4B8A62A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Flussdiagramm: Zusammenführen 6">
            <a:extLst>
              <a:ext uri="{FF2B5EF4-FFF2-40B4-BE49-F238E27FC236}">
                <a16:creationId xmlns:a16="http://schemas.microsoft.com/office/drawing/2014/main" id="{2B9137F4-615D-211C-3C61-0011CCF4380F}"/>
              </a:ext>
            </a:extLst>
          </p:cNvPr>
          <p:cNvSpPr/>
          <p:nvPr/>
        </p:nvSpPr>
        <p:spPr>
          <a:xfrm rot="16200000">
            <a:off x="1426358" y="4134816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9" name="Flussdiagramm: Zusammenführen 8">
            <a:extLst>
              <a:ext uri="{FF2B5EF4-FFF2-40B4-BE49-F238E27FC236}">
                <a16:creationId xmlns:a16="http://schemas.microsoft.com/office/drawing/2014/main" id="{BA373001-4D93-F86F-32BB-6474AD5BA207}"/>
              </a:ext>
            </a:extLst>
          </p:cNvPr>
          <p:cNvSpPr/>
          <p:nvPr/>
        </p:nvSpPr>
        <p:spPr>
          <a:xfrm rot="16200000">
            <a:off x="1426354" y="4810572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F659612-D653-012E-5B07-7400E9528390}"/>
              </a:ext>
            </a:extLst>
          </p:cNvPr>
          <p:cNvSpPr txBox="1">
            <a:spLocks/>
          </p:cNvSpPr>
          <p:nvPr/>
        </p:nvSpPr>
        <p:spPr>
          <a:xfrm>
            <a:off x="1747319" y="1952980"/>
            <a:ext cx="7022837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TAGAS proved to provide reliable insights, confirming previous assumptions and accurately predicting</a:t>
            </a: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 the interactions between the spacecraft and Saturn/Titan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9A9D87-C3FA-4CD4-EBE1-762FC96AE01E}"/>
              </a:ext>
            </a:extLst>
          </p:cNvPr>
          <p:cNvSpPr txBox="1">
            <a:spLocks/>
          </p:cNvSpPr>
          <p:nvPr/>
        </p:nvSpPr>
        <p:spPr>
          <a:xfrm>
            <a:off x="1747306" y="2651866"/>
            <a:ext cx="6953073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Correct aerobraking use allows to significantly alter a spacecrafts trajectory and be highly fuel efficient, potentially allowing electrical propulsion to be sufficient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528B8AB-4757-7704-1971-CC4F4E2CA845}"/>
              </a:ext>
            </a:extLst>
          </p:cNvPr>
          <p:cNvSpPr txBox="1">
            <a:spLocks/>
          </p:cNvSpPr>
          <p:nvPr/>
        </p:nvSpPr>
        <p:spPr>
          <a:xfrm>
            <a:off x="1747333" y="3333613"/>
            <a:ext cx="7022823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Higher velocities and lower flyby altitudes can further improve future missions, but require further investigation to ensure feasibility and safety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AB5994C-8147-55FD-C702-2C8B1CCCCD26}"/>
              </a:ext>
            </a:extLst>
          </p:cNvPr>
          <p:cNvSpPr txBox="1">
            <a:spLocks/>
          </p:cNvSpPr>
          <p:nvPr/>
        </p:nvSpPr>
        <p:spPr>
          <a:xfrm>
            <a:off x="1747306" y="4014201"/>
            <a:ext cx="7278999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Future usage and expansion: Integration of real-time data, enhanced atmospheric modeling, 3-dimensional approach, deviation sensitivity analysis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465714A-679D-D393-57BD-7EF5FF92855A}"/>
              </a:ext>
            </a:extLst>
          </p:cNvPr>
          <p:cNvSpPr txBox="1">
            <a:spLocks/>
          </p:cNvSpPr>
          <p:nvPr/>
        </p:nvSpPr>
        <p:spPr>
          <a:xfrm>
            <a:off x="1747292" y="4694789"/>
            <a:ext cx="7125104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6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Use adjustable cross-sectional area to correct deviations from the predicted atmospheric density with autonomous software engineering?</a:t>
            </a:r>
          </a:p>
        </p:txBody>
      </p:sp>
    </p:spTree>
    <p:extLst>
      <p:ext uri="{BB962C8B-B14F-4D97-AF65-F5344CB8AC3E}">
        <p14:creationId xmlns:p14="http://schemas.microsoft.com/office/powerpoint/2010/main" val="3637765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577163C6-CB08-07EF-E653-D890100F7020}"/>
              </a:ext>
            </a:extLst>
          </p:cNvPr>
          <p:cNvSpPr txBox="1"/>
          <p:nvPr/>
        </p:nvSpPr>
        <p:spPr>
          <a:xfrm>
            <a:off x="1122630" y="220890"/>
            <a:ext cx="6880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rgbClr val="008080"/>
                </a:solidFill>
                <a:latin typeface="+mj-lt"/>
                <a:cs typeface="Arial" panose="020B0604020202020204" pitchFamily="34" charset="0"/>
              </a:rPr>
              <a:t>Sources</a:t>
            </a:r>
          </a:p>
        </p:txBody>
      </p:sp>
      <p:pic>
        <p:nvPicPr>
          <p:cNvPr id="13" name="Grafik 12" descr="Ein Bild, das Text, Schrift, Screenshot, Grafikdesign enthält.&#10;&#10;Automatisch generierte Beschreibung">
            <a:extLst>
              <a:ext uri="{FF2B5EF4-FFF2-40B4-BE49-F238E27FC236}">
                <a16:creationId xmlns:a16="http://schemas.microsoft.com/office/drawing/2014/main" id="{118C4032-CB3E-FD95-D79A-541C5D01A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2" b="5607"/>
          <a:stretch/>
        </p:blipFill>
        <p:spPr>
          <a:xfrm>
            <a:off x="0" y="81481"/>
            <a:ext cx="407406" cy="111667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0059943-6AAA-D6F0-936D-BD5C0D5D3720}"/>
              </a:ext>
            </a:extLst>
          </p:cNvPr>
          <p:cNvSpPr txBox="1"/>
          <p:nvPr/>
        </p:nvSpPr>
        <p:spPr>
          <a:xfrm>
            <a:off x="0" y="6376409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Jason Cedric Kalscheuer</a:t>
            </a:r>
          </a:p>
          <a:p>
            <a:r>
              <a:rPr lang="en-US" sz="1000" noProof="0" dirty="0">
                <a:latin typeface="+mj-lt"/>
                <a:cs typeface="Arial" panose="020B0604020202020204" pitchFamily="34" charset="0"/>
              </a:rPr>
              <a:t>Slide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21</a:t>
            </a:r>
            <a:r>
              <a:rPr lang="en-US" sz="1000" noProof="0" dirty="0">
                <a:latin typeface="+mj-lt"/>
                <a:cs typeface="Arial" panose="020B0604020202020204" pitchFamily="34" charset="0"/>
              </a:rPr>
              <a:t> of </a:t>
            </a:r>
            <a:r>
              <a:rPr lang="en-US" sz="1000" dirty="0">
                <a:latin typeface="+mj-lt"/>
                <a:cs typeface="Arial" panose="020B0604020202020204" pitchFamily="34" charset="0"/>
              </a:rPr>
              <a:t>21</a:t>
            </a:r>
            <a:endParaRPr lang="en-US" sz="10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0BED81D2-3B01-69D1-087A-2C1F5536D6EC}"/>
              </a:ext>
            </a:extLst>
          </p:cNvPr>
          <p:cNvSpPr txBox="1">
            <a:spLocks/>
          </p:cNvSpPr>
          <p:nvPr/>
        </p:nvSpPr>
        <p:spPr>
          <a:xfrm>
            <a:off x="1765231" y="3965025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Lazcano, A. and Hand, K. (2012). </a:t>
            </a:r>
            <a:r>
              <a:rPr lang="en-US" sz="1400" noProof="0" dirty="0">
                <a:latin typeface="+mj-lt"/>
              </a:rPr>
              <a:t>Frontier or Fiction. Published in nature.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https://www.nature.com/articles/488160a </a:t>
            </a:r>
            <a:r>
              <a:rPr lang="en-US" sz="1400" noProof="0" dirty="0">
                <a:latin typeface="+mj-lt"/>
              </a:rPr>
              <a:t>(visited on 03/21/2025).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0" name="Flussdiagramm: Zusammenführen 29">
            <a:extLst>
              <a:ext uri="{FF2B5EF4-FFF2-40B4-BE49-F238E27FC236}">
                <a16:creationId xmlns:a16="http://schemas.microsoft.com/office/drawing/2014/main" id="{DB68C477-4504-8484-7E29-8113637B059C}"/>
              </a:ext>
            </a:extLst>
          </p:cNvPr>
          <p:cNvSpPr/>
          <p:nvPr/>
        </p:nvSpPr>
        <p:spPr>
          <a:xfrm rot="16200000">
            <a:off x="1427660" y="115038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1" name="Flussdiagramm: Zusammenführen 30">
            <a:extLst>
              <a:ext uri="{FF2B5EF4-FFF2-40B4-BE49-F238E27FC236}">
                <a16:creationId xmlns:a16="http://schemas.microsoft.com/office/drawing/2014/main" id="{0ED5E0C3-976B-E4F0-CA8D-DB7D24E01DE6}"/>
              </a:ext>
            </a:extLst>
          </p:cNvPr>
          <p:cNvSpPr/>
          <p:nvPr/>
        </p:nvSpPr>
        <p:spPr>
          <a:xfrm rot="16200000">
            <a:off x="1427662" y="2024490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2" name="Flussdiagramm: Zusammenführen 31">
            <a:extLst>
              <a:ext uri="{FF2B5EF4-FFF2-40B4-BE49-F238E27FC236}">
                <a16:creationId xmlns:a16="http://schemas.microsoft.com/office/drawing/2014/main" id="{6C15B898-EC3B-6483-C1D6-B59087A9DE90}"/>
              </a:ext>
            </a:extLst>
          </p:cNvPr>
          <p:cNvSpPr/>
          <p:nvPr/>
        </p:nvSpPr>
        <p:spPr>
          <a:xfrm rot="16200000">
            <a:off x="1433494" y="2573201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3" name="Flussdiagramm: Zusammenführen 32">
            <a:extLst>
              <a:ext uri="{FF2B5EF4-FFF2-40B4-BE49-F238E27FC236}">
                <a16:creationId xmlns:a16="http://schemas.microsoft.com/office/drawing/2014/main" id="{7D0F4E53-F486-1726-143C-96C1373CBCAD}"/>
              </a:ext>
            </a:extLst>
          </p:cNvPr>
          <p:cNvSpPr/>
          <p:nvPr/>
        </p:nvSpPr>
        <p:spPr>
          <a:xfrm rot="16200000">
            <a:off x="1426356" y="3440384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20376A83-3977-D262-9E4E-CE067AD8E963}"/>
              </a:ext>
            </a:extLst>
          </p:cNvPr>
          <p:cNvSpPr txBox="1">
            <a:spLocks/>
          </p:cNvSpPr>
          <p:nvPr/>
        </p:nvSpPr>
        <p:spPr>
          <a:xfrm>
            <a:off x="1765231" y="1072462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Brown, C. (1998). </a:t>
            </a:r>
            <a:r>
              <a:rPr lang="en-US" sz="1400" noProof="0" dirty="0">
                <a:latin typeface="+mj-lt"/>
              </a:rPr>
              <a:t>Spacecraft Mission Design. Published by the American Institute of Aeronautics and Astronautics.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solidFill>
                  <a:srgbClr val="333333"/>
                </a:solidFill>
                <a:latin typeface="+mj-lt"/>
                <a:cs typeface="Arial" panose="020B0604020202020204" pitchFamily="34" charset="0"/>
              </a:rPr>
              <a:t>https://arc.aiaa.org/doi/10.2514/5.9781600862434.0095.0132 </a:t>
            </a:r>
            <a:r>
              <a:rPr lang="en-US" sz="1400" noProof="0" dirty="0">
                <a:latin typeface="+mj-lt"/>
              </a:rPr>
              <a:t>(visited on 02/28/2025).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0C41A86D-51B6-8203-C82C-72B5BAD2A194}"/>
              </a:ext>
            </a:extLst>
          </p:cNvPr>
          <p:cNvSpPr txBox="1">
            <a:spLocks/>
          </p:cNvSpPr>
          <p:nvPr/>
        </p:nvSpPr>
        <p:spPr>
          <a:xfrm>
            <a:off x="1765230" y="5195591"/>
            <a:ext cx="6953060" cy="7121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Way, D., R. Powell, K. Edquist, J. Masciarelli, and B. Starr. (2003). Aerocapture Simulation and Performance for the Titan Explorer Mission. 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https://arc.aiaa.org/doi/10.2514/6.2003-4951 (visited on 02/26/2025).</a:t>
            </a:r>
            <a:endParaRPr lang="en-US" sz="18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3C649989-4E7B-F767-A3A4-F93480C1E834}"/>
              </a:ext>
            </a:extLst>
          </p:cNvPr>
          <p:cNvSpPr txBox="1">
            <a:spLocks/>
          </p:cNvSpPr>
          <p:nvPr/>
        </p:nvSpPr>
        <p:spPr>
          <a:xfrm>
            <a:off x="1765231" y="3333613"/>
            <a:ext cx="7179593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Laub, B. (2012). Thermal Protection Concepts and Issues for Aerocapture at Titan.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https://arc.aiaa.org/doi/10.2514/6.2003-4954 (visited on 03/04/2025).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Flussdiagramm: Zusammenführen 32">
            <a:extLst>
              <a:ext uri="{FF2B5EF4-FFF2-40B4-BE49-F238E27FC236}">
                <a16:creationId xmlns:a16="http://schemas.microsoft.com/office/drawing/2014/main" id="{0DDB41DF-2BE8-8406-A0DA-B662D83CD62E}"/>
              </a:ext>
            </a:extLst>
          </p:cNvPr>
          <p:cNvSpPr/>
          <p:nvPr/>
        </p:nvSpPr>
        <p:spPr>
          <a:xfrm rot="16200000">
            <a:off x="1444296" y="4072469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DD9E1-A761-DD44-844E-90156EC4D0E0}"/>
              </a:ext>
            </a:extLst>
          </p:cNvPr>
          <p:cNvSpPr txBox="1">
            <a:spLocks/>
          </p:cNvSpPr>
          <p:nvPr/>
        </p:nvSpPr>
        <p:spPr>
          <a:xfrm>
            <a:off x="1765230" y="1964994"/>
            <a:ext cx="7197533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Dachwald, B. (2025). Masters Orientation Day speech at FH Aachen 20.03.2025</a:t>
            </a:r>
            <a:endParaRPr lang="en-US" sz="16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Flussdiagramm: Zusammenführen 32">
            <a:extLst>
              <a:ext uri="{FF2B5EF4-FFF2-40B4-BE49-F238E27FC236}">
                <a16:creationId xmlns:a16="http://schemas.microsoft.com/office/drawing/2014/main" id="{1889559D-D617-C65E-4F41-5FE913336A4F}"/>
              </a:ext>
            </a:extLst>
          </p:cNvPr>
          <p:cNvSpPr/>
          <p:nvPr/>
        </p:nvSpPr>
        <p:spPr>
          <a:xfrm rot="16200000">
            <a:off x="1426349" y="4629245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3F9E4C-7143-A613-55F3-E46B31DDC33B}"/>
              </a:ext>
            </a:extLst>
          </p:cNvPr>
          <p:cNvSpPr txBox="1">
            <a:spLocks/>
          </p:cNvSpPr>
          <p:nvPr/>
        </p:nvSpPr>
        <p:spPr>
          <a:xfrm>
            <a:off x="1765230" y="2502807"/>
            <a:ext cx="7179594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Hall, N. (2023). Drag Equation.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https://www1.grc.nasa.gov/beginners-guide-to-aeronautics/dragequation-2/ (visited on 03/08/2025). 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lussdiagramm: Zusammenführen 32">
            <a:extLst>
              <a:ext uri="{FF2B5EF4-FFF2-40B4-BE49-F238E27FC236}">
                <a16:creationId xmlns:a16="http://schemas.microsoft.com/office/drawing/2014/main" id="{EB2A73F8-2054-949C-81E0-1D296AA62D43}"/>
              </a:ext>
            </a:extLst>
          </p:cNvPr>
          <p:cNvSpPr/>
          <p:nvPr/>
        </p:nvSpPr>
        <p:spPr>
          <a:xfrm rot="16200000">
            <a:off x="1426349" y="5261329"/>
            <a:ext cx="190126" cy="163819"/>
          </a:xfrm>
          <a:prstGeom prst="flowChartMerge">
            <a:avLst/>
          </a:prstGeom>
          <a:solidFill>
            <a:srgbClr val="00808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212D94B-6A38-DEB6-1081-0956897CF6CC}"/>
              </a:ext>
            </a:extLst>
          </p:cNvPr>
          <p:cNvSpPr txBox="1">
            <a:spLocks/>
          </p:cNvSpPr>
          <p:nvPr/>
        </p:nvSpPr>
        <p:spPr>
          <a:xfrm>
            <a:off x="1756260" y="4561489"/>
            <a:ext cx="7197533" cy="712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Roy, A. (2005). Orbital Motion. Published by CRC Press Taylor Francis Group.</a:t>
            </a:r>
          </a:p>
          <a:p>
            <a:pPr algn="l">
              <a:defRPr sz="2400">
                <a:solidFill>
                  <a:srgbClr val="333333"/>
                </a:solidFill>
              </a:defRPr>
            </a:pPr>
            <a:r>
              <a:rPr lang="en-US" sz="1400" noProof="0" dirty="0">
                <a:latin typeface="+mj-lt"/>
              </a:rPr>
              <a:t>https://www.perlego.com/book/1645788 (visited on 02/28/2025). </a:t>
            </a:r>
            <a:endParaRPr lang="en-US" sz="1400" noProof="0" dirty="0">
              <a:solidFill>
                <a:srgbClr val="333333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3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2922</Words>
  <Application>Microsoft Office PowerPoint</Application>
  <PresentationFormat>On-screen Show (4:3)</PresentationFormat>
  <Paragraphs>342</Paragraphs>
  <Slides>32</Slides>
  <Notes>29</Notes>
  <HiddenSlides>11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Cedric</dc:creator>
  <cp:keywords/>
  <dc:description>generated using python-pptx</dc:description>
  <cp:lastModifiedBy>Cedric Kalscheuer</cp:lastModifiedBy>
  <cp:revision>214</cp:revision>
  <dcterms:created xsi:type="dcterms:W3CDTF">2013-01-27T09:14:16Z</dcterms:created>
  <dcterms:modified xsi:type="dcterms:W3CDTF">2025-03-25T22:45:14Z</dcterms:modified>
  <cp:category/>
</cp:coreProperties>
</file>